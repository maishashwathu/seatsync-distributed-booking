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e745566068411a" /><Relationship Type="http://schemas.openxmlformats.org/officeDocument/2006/relationships/extended-properties" Target="/docProps/app.xml" Id="R3537a0fa4bb04032" /><Relationship Type="http://schemas.openxmlformats.org/officeDocument/2006/relationships/officeDocument" Target="/ppt/presentation.xml" Id="R9ad7861f8e6d4768" /></Relationships>
</file>

<file path=ppt/presentation.xml><?xml version="1.0" encoding="utf-8"?>
<p:presentation xmlns:p="http://schemas.openxmlformats.org/presentationml/2006/main">
  <p:sldMasterIdLst>
    <p:sldMasterId xmlns:r="http://schemas.openxmlformats.org/officeDocument/2006/relationships" id="2147483648" r:id="R2dad4a934fb44669"/>
  </p:sldMasterIdLst>
  <p:notesMasterIdLst>
    <p:notesMasterId xmlns:r="http://schemas.openxmlformats.org/officeDocument/2006/relationships" r:id="R13aa781f814b49a0"/>
  </p:notesMasterIdLst>
  <p:sldIdLst>
    <p:sldId xmlns:r="http://schemas.openxmlformats.org/officeDocument/2006/relationships" id="256" r:id="Rea5625b8728c41eb"/>
    <p:sldId xmlns:r="http://schemas.openxmlformats.org/officeDocument/2006/relationships" id="257" r:id="R0e6ab644f2fe483e"/>
    <p:sldId xmlns:r="http://schemas.openxmlformats.org/officeDocument/2006/relationships" id="258" r:id="R1005b9f26e66417a"/>
    <p:sldId xmlns:r="http://schemas.openxmlformats.org/officeDocument/2006/relationships" id="259" r:id="R10e5e684ecb246dd"/>
    <p:sldId xmlns:r="http://schemas.openxmlformats.org/officeDocument/2006/relationships" id="260" r:id="R8b51dbc12ae5499c"/>
    <p:sldId xmlns:r="http://schemas.openxmlformats.org/officeDocument/2006/relationships" id="261" r:id="R8f49d0a4fd71459f"/>
    <p:sldId xmlns:r="http://schemas.openxmlformats.org/officeDocument/2006/relationships" id="262" r:id="R12e9f663d23e4d81"/>
    <p:sldId xmlns:r="http://schemas.openxmlformats.org/officeDocument/2006/relationships" id="263" r:id="Rf601145dea0a48d3"/>
    <p:sldId xmlns:r="http://schemas.openxmlformats.org/officeDocument/2006/relationships" id="264" r:id="R5a27c2732a244df7"/>
    <p:sldId xmlns:r="http://schemas.openxmlformats.org/officeDocument/2006/relationships" id="265" r:id="R516b72768a7e49ba"/>
    <p:sldId xmlns:r="http://schemas.openxmlformats.org/officeDocument/2006/relationships" id="266" r:id="R7ab44c3f20294074"/>
    <p:sldId xmlns:r="http://schemas.openxmlformats.org/officeDocument/2006/relationships" id="267" r:id="R430e97e0452c4b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d4e43a1cc74d16" /><Relationship Type="http://schemas.openxmlformats.org/officeDocument/2006/relationships/slideMaster" Target="/ppt/slideMasters/slideMaster1.xml" Id="R2dad4a934fb44669" /><Relationship Type="http://schemas.openxmlformats.org/officeDocument/2006/relationships/notesMaster" Target="/ppt/notesMasters/notesMaster1.xml" Id="R13aa781f814b49a0" /><Relationship Type="http://schemas.openxmlformats.org/officeDocument/2006/relationships/presProps" Target="/ppt/presProps.xml" Id="R50d6760c5c344a02" /><Relationship Type="http://schemas.openxmlformats.org/officeDocument/2006/relationships/tableStyles" Target="/ppt/tableStyles.xml" Id="R9de0863643434cdc" /><Relationship Type="http://schemas.openxmlformats.org/officeDocument/2006/relationships/slide" Target="/ppt/slides/slide1.xml" Id="Rea5625b8728c41eb" /><Relationship Type="http://schemas.openxmlformats.org/officeDocument/2006/relationships/slide" Target="/ppt/slides/slide2.xml" Id="R0e6ab644f2fe483e" /><Relationship Type="http://schemas.openxmlformats.org/officeDocument/2006/relationships/slide" Target="/ppt/slides/slide3.xml" Id="R1005b9f26e66417a" /><Relationship Type="http://schemas.openxmlformats.org/officeDocument/2006/relationships/slide" Target="/ppt/slides/slide4.xml" Id="R10e5e684ecb246dd" /><Relationship Type="http://schemas.openxmlformats.org/officeDocument/2006/relationships/slide" Target="/ppt/slides/slide5.xml" Id="R8b51dbc12ae5499c" /><Relationship Type="http://schemas.openxmlformats.org/officeDocument/2006/relationships/slide" Target="/ppt/slides/slide6.xml" Id="R8f49d0a4fd71459f" /><Relationship Type="http://schemas.openxmlformats.org/officeDocument/2006/relationships/slide" Target="/ppt/slides/slide7.xml" Id="R12e9f663d23e4d81" /><Relationship Type="http://schemas.openxmlformats.org/officeDocument/2006/relationships/slide" Target="/ppt/slides/slide8.xml" Id="Rf601145dea0a48d3" /><Relationship Type="http://schemas.openxmlformats.org/officeDocument/2006/relationships/slide" Target="/ppt/slides/slide9.xml" Id="R5a27c2732a244df7" /><Relationship Type="http://schemas.openxmlformats.org/officeDocument/2006/relationships/slide" Target="/ppt/slides/slide10.xml" Id="R516b72768a7e49ba" /><Relationship Type="http://schemas.openxmlformats.org/officeDocument/2006/relationships/slide" Target="/ppt/slides/slide11.xml" Id="R7ab44c3f20294074" /><Relationship Type="http://schemas.openxmlformats.org/officeDocument/2006/relationships/slide" Target="/ppt/slides/slide12.xml" Id="R430e97e0452c4b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52b483710044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22c27467234fb3" /><Relationship Type="http://schemas.openxmlformats.org/officeDocument/2006/relationships/notesMaster" Target="/ppt/notesMasters/notesMaster1.xml" Id="R50641ef3db914f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c2e3ab82a04a66" /><Relationship Type="http://schemas.openxmlformats.org/officeDocument/2006/relationships/notesMaster" Target="/ppt/notesMasters/notesMaster1.xml" Id="R6ad8dac2a21b4b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8ba4c412c84011" /><Relationship Type="http://schemas.openxmlformats.org/officeDocument/2006/relationships/notesMaster" Target="/ppt/notesMasters/notesMaster1.xml" Id="Rfebf0cfe654141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b6aa7f6a334fee" /><Relationship Type="http://schemas.openxmlformats.org/officeDocument/2006/relationships/notesMaster" Target="/ppt/notesMasters/notesMaster1.xml" Id="Rd0469ba55cd948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29f52d49ab435f" /><Relationship Type="http://schemas.openxmlformats.org/officeDocument/2006/relationships/notesMaster" Target="/ppt/notesMasters/notesMaster1.xml" Id="R82cb4b1ebcf2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d81c186fe34189" /><Relationship Type="http://schemas.openxmlformats.org/officeDocument/2006/relationships/notesMaster" Target="/ppt/notesMasters/notesMaster1.xml" Id="Raa4b5fa308df4d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11a1346b15401c" /><Relationship Type="http://schemas.openxmlformats.org/officeDocument/2006/relationships/notesMaster" Target="/ppt/notesMasters/notesMaster1.xml" Id="R17370e49d5e240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7efc0d885e4879" /><Relationship Type="http://schemas.openxmlformats.org/officeDocument/2006/relationships/notesMaster" Target="/ppt/notesMasters/notesMaster1.xml" Id="Rdabf33c8b2be4f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cadf78a193468b" /><Relationship Type="http://schemas.openxmlformats.org/officeDocument/2006/relationships/notesMaster" Target="/ppt/notesMasters/notesMaster1.xml" Id="R56a7253867874c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61b9d626f84ad9" /><Relationship Type="http://schemas.openxmlformats.org/officeDocument/2006/relationships/notesMaster" Target="/ppt/notesMasters/notesMaster1.xml" Id="R6260deb50a9744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ea612dcac94fb5" /><Relationship Type="http://schemas.openxmlformats.org/officeDocument/2006/relationships/notesMaster" Target="/ppt/notesMasters/notesMaster1.xml" Id="Rc796d29d390240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117253fcc4470a" /><Relationship Type="http://schemas.openxmlformats.org/officeDocument/2006/relationships/notesMaster" Target="/ppt/notesMasters/notesMaster1.xml" Id="R9a56d5516dfd4c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problem: several entry servers can receive requests for the same seat. SeatSync makes the coordination visible. Run entirely locally with independent processes and separate databases. Course: Distributed Computing 2026–27.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last-seat example. If independent servers read availability and write without coordination, both may attempt to allocate the same seat. Our chosen mechanism is centralized mutual exclusion with an elected coordinator. This is a teaching workload, not a payment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node has its own operating-system process, HTTP endpoint, and SQLite file. The gateway routes browser requests and starts or kills processes, but nodes elect the coordinator themselves. Stable logical IDs map to addresses. Initial coordinator is Node 03. Source: app.py, node.py, 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local browser session. This screenshot shows a successful booking after failover, coordinated by Node 02. The browser can choose any live entry node. Explain the path from entry node to coordinator, durable replication, and response. Source: docs/screenshots/booking-detail.jpg and node.py.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node forwards booking requests to one elected coordinator. A mutex in that process serializes the critical section across those callers. This is the centralized algorithm, not Ricart–Agrawala. The race releases 12 concurrent requests through online nodes with a barrier. Screenshot: actual browser run. Source: node.py Node.book and app.py Cluster.race.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Node 03 process has stopped and Node 02 is coordinator. Followers detect failure through heartbeat timeouts. A candidate sends election requests to higher IDs. The highest reachable ID recovers state, replicates a new term to a quorum, and announces itself. Browser measurement and integration measurement come from different runs. Source: node.py Node.elect and Node.monitor.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Node 03 recovery after the browser failover experiment. Node 03 missed a booking while offline. On restart it loads its own database and reads peer snapshots. As the highest ID it recovers the newest version before reclaiming leadership. A returned lower-ID node receives state from the existing coordinator. Integration tests cover both cases. Source: node.py election and /election handler.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event feed. Traced mutating RPCs carry a Lamport clock. Sending increments the counter. Receipt applies max(local, received) + 1. Local events also increment it. GET health and status probes are not part of this logical-clock example. The dashboard sorts by wall time on one laptop for readability. Lamport counters do not measure elapsed time and do not identify concurrency the way vector clocks do. Source: node.py and docs/screenshots/timeline.jpg.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docs/test-results.json, a completed isolated integration-test run. Race mean 103.7 ms. Failover 4430.6 ms. These are one-run observations on this laptop. The 55 ms critical-section delay is intentional. Failover includes heartbeat timeout and supervisor polling. They are not universal performance claims. The separate browser screenshot uses another run and naturally differs. All nine integration test methods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these limits candidly. This project is not Raft or Paxos and does not establish partition-safe consensus. Bully election and quorum snapshots alone cannot prevent split brain under arbitrary network partitions, asymmetric reachability, or long scheduling pauses. A reservation may survive even if the reply is lost. Retrying with the same request ID is necessary. The gateway and laptop remain common points of failure. Source: README.md Recovery and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the implementation to the provided Distributed Computing course policy. The policy is a syllabus, not proof of which lectures have occurred. We implement a selected combination rather than all topics. Naming is a static ID-to-address mapping, not DNS. Source: supplied Course Policy_DC_2026-27.docx instruction plan and lab list, plus local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sequence takes about five minutes. Before presenting, ensure three nodes online, optionally reset the demo, and open http://127.0.0.1:18780. Book C4, race B3, crash coordinator, reserve another seat through a surviving node, restart Node 03, and export evidence. Show the current values rather than promising exact latency. Further narration and viva notes: 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60f5d41704d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67f231a6724a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1c1de336c547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19876c5cbc41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2af9f6b2144a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0292e005924a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CAE290-22A3-43B4-AA17-37EF71EFE4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11CA89-8720-40F1-941D-2E6268A9A0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5CC73B-033B-4EF2-B459-BA8A13DC7B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83F1D3-5BE0-4129-94E4-554D1C229C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A4D7B8-451F-4278-A5A0-08E1F97FAE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D5E5D4-DA47-483D-A668-9484EA7BE2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EBF450-2B9D-4F52-960F-7061AC8EB9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FB9E30-E8A3-491B-A7A3-DF5C479E3B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3ECD76-378A-4E8C-A522-614C780556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CFD151-F2F7-447B-9121-A82578861C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1939cdc22c4002" /><Relationship Type="http://schemas.openxmlformats.org/officeDocument/2006/relationships/slideLayout" Target="/ppt/slideLayouts/slideLayout1.xml" Id="R1ed51460faa245f1" /><Relationship Type="http://schemas.openxmlformats.org/officeDocument/2006/relationships/slideLayout" Target="/ppt/slideLayouts/slideLayout2.xml" Id="Ra4ace1474ea14857" /><Relationship Type="http://schemas.openxmlformats.org/officeDocument/2006/relationships/slideLayout" Target="/ppt/slideLayouts/slideLayout3.xml" Id="Rbb065af83a86419b" /><Relationship Type="http://schemas.openxmlformats.org/officeDocument/2006/relationships/slideLayout" Target="/ppt/slideLayouts/slideLayout4.xml" Id="R46460e6711c74c8e" /><Relationship Type="http://schemas.openxmlformats.org/officeDocument/2006/relationships/slideLayout" Target="/ppt/slideLayouts/slideLayout5.xml" Id="Rf29ccd81ab65422a" /><Relationship Type="http://schemas.openxmlformats.org/officeDocument/2006/relationships/slideLayout" Target="/ppt/slideLayouts/slideLayout6.xml" Id="R1e0d8fec4576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d51460faa245f1"/>
    <p:sldLayoutId xmlns:r="http://schemas.openxmlformats.org/officeDocument/2006/relationships" id="2147483650" r:id="Ra4ace1474ea14857"/>
    <p:sldLayoutId xmlns:r="http://schemas.openxmlformats.org/officeDocument/2006/relationships" id="2147483651" r:id="Rbb065af83a86419b"/>
    <p:sldLayoutId xmlns:r="http://schemas.openxmlformats.org/officeDocument/2006/relationships" id="2147483652" r:id="R46460e6711c74c8e"/>
    <p:sldLayoutId xmlns:r="http://schemas.openxmlformats.org/officeDocument/2006/relationships" id="2147483653" r:id="Rf29ccd81ab65422a"/>
    <p:sldLayoutId xmlns:r="http://schemas.openxmlformats.org/officeDocument/2006/relationships" id="2147483654" r:id="R1e0d8fec4576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8116ec9e904b6b" /><Relationship Type="http://schemas.openxmlformats.org/officeDocument/2006/relationships/notesSlide" Target="/ppt/notesSlides/notesSlide1.xml" Id="R089a22a65a624f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4a6e5872704e50" /><Relationship Type="http://schemas.openxmlformats.org/officeDocument/2006/relationships/notesSlide" Target="/ppt/notesSlides/notesSlide2.xml" Id="R21f54b9c902342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aa51df7da04f40" /><Relationship Type="http://schemas.openxmlformats.org/officeDocument/2006/relationships/notesSlide" Target="/ppt/notesSlides/notesSlide3.xml" Id="R4cda271fd31f42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3d3f65174e4575" /><Relationship Type="http://schemas.openxmlformats.org/officeDocument/2006/relationships/image" Target="/ppt/media/image.jpeg" Id="R9c0aba1de4894c55" /><Relationship Type="http://schemas.openxmlformats.org/officeDocument/2006/relationships/notesSlide" Target="/ppt/notesSlides/notesSlide4.xml" Id="Reea998d1400e4d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32da2cdd474df0" /><Relationship Type="http://schemas.openxmlformats.org/officeDocument/2006/relationships/image" Target="/ppt/media/image2.jpeg" Id="R6b24bd60b37e46a2" /><Relationship Type="http://schemas.openxmlformats.org/officeDocument/2006/relationships/notesSlide" Target="/ppt/notesSlides/notesSlide5.xml" Id="R01ae5e42b03442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27e064ff1f495c" /><Relationship Type="http://schemas.openxmlformats.org/officeDocument/2006/relationships/image" Target="/ppt/media/image3.jpeg" Id="R22cabf558d9a4f8e" /><Relationship Type="http://schemas.openxmlformats.org/officeDocument/2006/relationships/notesSlide" Target="/ppt/notesSlides/notesSlide6.xml" Id="Rac5e1d0b95b146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6d35a15f0647de" /><Relationship Type="http://schemas.openxmlformats.org/officeDocument/2006/relationships/image" Target="/ppt/media/image4.jpeg" Id="R4fec3399927348d0" /><Relationship Type="http://schemas.openxmlformats.org/officeDocument/2006/relationships/notesSlide" Target="/ppt/notesSlides/notesSlide7.xml" Id="Ra4508134a36141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9edc3bfe204f10" /><Relationship Type="http://schemas.openxmlformats.org/officeDocument/2006/relationships/image" Target="/ppt/media/image5.jpeg" Id="R53cf51346b084152" /><Relationship Type="http://schemas.openxmlformats.org/officeDocument/2006/relationships/notesSlide" Target="/ppt/notesSlides/notesSlide8.xml" Id="R03a81e77f38f44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f5a8bd4ea446b2" /><Relationship Type="http://schemas.openxmlformats.org/officeDocument/2006/relationships/notesSlide" Target="/ppt/notesSlides/notesSlide9.xml" Id="Rd401c8d9b79b49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1a941e6f074c54" /><Relationship Type="http://schemas.openxmlformats.org/officeDocument/2006/relationships/notesSlide" Target="/ppt/notesSlides/notesSlide10.xml" Id="R1f2e101c075d41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6585ae0f574bb8" /><Relationship Type="http://schemas.openxmlformats.org/officeDocument/2006/relationships/notesSlide" Target="/ppt/notesSlides/notesSlide11.xml" Id="R91a1f329c52f4a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c6af54f1dd41b2" /><Relationship Type="http://schemas.openxmlformats.org/officeDocument/2006/relationships/notesSlide" Target="/ppt/notesSlides/notesSlide12.xml" Id="Ra5640384363d4efa" /></Relationships>
</file>

<file path=ppt/slides/slide1.xml><?xml version="1.0" encoding="utf-8"?>
<p:sld xmlns:p="http://schemas.openxmlformats.org/presentationml/2006/main">
  <p:cSld>
    <p:bg>
      <p:bgPr>
        <a:solidFill xmlns:a="http://schemas.openxmlformats.org/drawingml/2006/main">
          <a:srgbClr val="183A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852062-A65C-491B-AA5A-70E62DB0B999}"/>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01</a:t>
            </a:r>
          </a:p>
        </p:txBody>
      </p:sp>
      <p:sp>
        <p:nvSpPr>
          <p:cNvPr id="2" name="">
            <a:extLst xmlns:a="http://schemas.openxmlformats.org/drawingml/2006/main">
              <a:ext uri="{FF2B5EF4-FFF2-40B4-BE49-F238E27FC236}">
                <a16:creationId xmlns:a16="http://schemas.microsoft.com/office/drawing/2014/main" id="{D5AC92AB-CC15-4A47-ABB8-4F5A59E2CAA4}"/>
              </a:ext>
            </a:extLst>
          </p:cNvPr>
          <p:cNvSpPr>
            <a:spLocks xmlns:a="http://schemas.openxmlformats.org/drawingml/2006/main" noGrp="1"/>
          </p:cNvSpPr>
          <p:nvPr/>
        </p:nvSpPr>
        <p:spPr>
          <a:xfrm xmlns:a="http://schemas.openxmlformats.org/drawingml/2006/main">
            <a:off x="628650" y="161925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defRPr>
            </a:defPPr>
          </a:lstStyle>
          <a:p xmlns:a="http://schemas.openxmlformats.org/drawingml/2006/main">
            <a:pPr>
              <a:defRPr sz="7050" b="1">
                <a:solidFill>
                  <a:srgbClr val="FFFFFF"/>
                </a:solidFill>
              </a:defRPr>
            </a:pPr>
            <a:r>
              <a:rPr sz="7050" b="1">
                <a:solidFill>
                  <a:srgbClr val="FFFFFF"/>
                </a:solidFill>
              </a:rPr>
              <a:t>SeatSync</a:t>
            </a:r>
          </a:p>
        </p:txBody>
      </p:sp>
      <p:sp>
        <p:nvSpPr>
          <p:cNvPr id="3" name="">
            <a:extLst xmlns:a="http://schemas.openxmlformats.org/drawingml/2006/main">
              <a:ext uri="{FF2B5EF4-FFF2-40B4-BE49-F238E27FC236}">
                <a16:creationId xmlns:a16="http://schemas.microsoft.com/office/drawing/2014/main" id="{6A25F7CB-0BE2-47E9-9EB9-3B83B0B2F24C}"/>
              </a:ext>
            </a:extLst>
          </p:cNvPr>
          <p:cNvSpPr>
            <a:spLocks xmlns:a="http://schemas.openxmlformats.org/drawingml/2006/main" noGrp="1"/>
          </p:cNvSpPr>
          <p:nvPr/>
        </p:nvSpPr>
        <p:spPr>
          <a:xfrm xmlns:a="http://schemas.openxmlformats.org/drawingml/2006/main">
            <a:off x="676275" y="30289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D7E7CF"/>
                </a:solidFill>
              </a:defRPr>
            </a:defPPr>
          </a:lstStyle>
          <a:p xmlns:a="http://schemas.openxmlformats.org/drawingml/2006/main">
            <a:pPr>
              <a:defRPr sz="3375" b="0">
                <a:solidFill>
                  <a:srgbClr val="D7E7CF"/>
                </a:solidFill>
              </a:defRPr>
            </a:pPr>
            <a:r>
              <a:rPr sz="3375" b="0">
                <a:solidFill>
                  <a:srgbClr val="D7E7CF"/>
                </a:solidFill>
              </a:rPr>
              <a:t>Distributed ticket booking</a:t>
            </a:r>
          </a:p>
        </p:txBody>
      </p:sp>
      <p:sp>
        <p:nvSpPr>
          <p:cNvPr id="4" name="">
            <a:extLst xmlns:a="http://schemas.openxmlformats.org/drawingml/2006/main">
              <a:ext uri="{FF2B5EF4-FFF2-40B4-BE49-F238E27FC236}">
                <a16:creationId xmlns:a16="http://schemas.microsoft.com/office/drawing/2014/main" id="{56447FD7-8CBB-4CA1-B000-813AD0CCA6BD}"/>
              </a:ext>
            </a:extLst>
          </p:cNvPr>
          <p:cNvSpPr>
            <a:spLocks xmlns:a="http://schemas.openxmlformats.org/drawingml/2006/main" noGrp="1"/>
          </p:cNvSpPr>
          <p:nvPr/>
        </p:nvSpPr>
        <p:spPr>
          <a:xfrm xmlns:a="http://schemas.openxmlformats.org/drawingml/2006/main">
            <a:off x="695325" y="4010025"/>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2C8B6"/>
                </a:solidFill>
              </a:defRPr>
            </a:defPPr>
          </a:lstStyle>
          <a:p xmlns:a="http://schemas.openxmlformats.org/drawingml/2006/main">
            <a:pPr>
              <a:defRPr sz="2025" b="0">
                <a:solidFill>
                  <a:srgbClr val="B2C8B6"/>
                </a:solidFill>
              </a:defRPr>
            </a:pPr>
            <a:r>
              <a:rPr sz="2025" b="0">
                <a:solidFill>
                  <a:srgbClr val="B2C8B6"/>
                </a:solidFill>
              </a:rPr>
              <a:t>A local demonstration of coordination and recovery</a:t>
            </a:r>
          </a:p>
        </p:txBody>
      </p:sp>
      <p:sp>
        <p:nvSpPr>
          <p:cNvPr id="5" name="">
            <a:extLst xmlns:a="http://schemas.openxmlformats.org/drawingml/2006/main">
              <a:ext uri="{FF2B5EF4-FFF2-40B4-BE49-F238E27FC236}">
                <a16:creationId xmlns:a16="http://schemas.microsoft.com/office/drawing/2014/main" id="{093F5068-E51C-4ABF-A75F-A9A62182CF1F}"/>
              </a:ext>
            </a:extLst>
          </p:cNvPr>
          <p:cNvSpPr>
            <a:spLocks xmlns:a="http://schemas.openxmlformats.org/drawingml/2006/main" noGrp="1"/>
          </p:cNvSpPr>
          <p:nvPr/>
        </p:nvSpPr>
        <p:spPr>
          <a:xfrm xmlns:a="http://schemas.openxmlformats.org/drawingml/2006/main">
            <a:off x="695325" y="56197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2C8B6"/>
                </a:solidFill>
              </a:defRPr>
            </a:defPPr>
          </a:lstStyle>
          <a:p xmlns:a="http://schemas.openxmlformats.org/drawingml/2006/main">
            <a:pPr>
              <a:defRPr sz="1650" b="0">
                <a:solidFill>
                  <a:srgbClr val="B2C8B6"/>
                </a:solidFill>
              </a:defRPr>
            </a:pPr>
            <a:r>
              <a:rPr sz="1650" b="0">
                <a:solidFill>
                  <a:srgbClr val="B2C8B6"/>
                </a:solidFill>
              </a:rPr>
              <a:t>Distributed Computing 2026–27</a:t>
            </a:r>
          </a:p>
        </p:txBody>
      </p:sp>
    </p:spTree>
    <p:extLst>
      <p:ext uri="{BB962C8B-B14F-4D97-AF65-F5344CB8AC3E}">
        <p14:creationId xmlns:p14="http://schemas.microsoft.com/office/powerpoint/2010/main" val="104975922"/>
      </p:ext>
    </p:extLst>
  </p:cSld>
</p:sld>
</file>

<file path=ppt/slides/slide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47CBEF-AC50-4B63-AFED-50EF7517FADE}"/>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The booking problem</a:t>
            </a:r>
          </a:p>
        </p:txBody>
      </p:sp>
      <p:sp>
        <p:nvSpPr>
          <p:cNvPr id="2" name="">
            <a:extLst xmlns:a="http://schemas.openxmlformats.org/drawingml/2006/main">
              <a:ext uri="{FF2B5EF4-FFF2-40B4-BE49-F238E27FC236}">
                <a16:creationId xmlns:a16="http://schemas.microsoft.com/office/drawing/2014/main" id="{3CA742BD-12B0-413D-8D14-7F532B85B1DB}"/>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02</a:t>
            </a:r>
          </a:p>
        </p:txBody>
      </p:sp>
      <p:sp>
        <p:nvSpPr>
          <p:cNvPr id="3" name="">
            <a:extLst xmlns:a="http://schemas.openxmlformats.org/drawingml/2006/main">
              <a:ext uri="{FF2B5EF4-FFF2-40B4-BE49-F238E27FC236}">
                <a16:creationId xmlns:a16="http://schemas.microsoft.com/office/drawing/2014/main" id="{725BF909-E703-452D-81DD-1417A3A9FDEF}"/>
              </a:ext>
            </a:extLst>
          </p:cNvPr>
          <p:cNvSpPr>
            <a:spLocks xmlns:a="http://schemas.openxmlformats.org/drawingml/2006/main" noGrp="1"/>
          </p:cNvSpPr>
          <p:nvPr/>
        </p:nvSpPr>
        <p:spPr>
          <a:xfrm xmlns:a="http://schemas.openxmlformats.org/drawingml/2006/main">
            <a:off x="628650" y="15716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6E50"/>
                </a:solidFill>
              </a:defRPr>
            </a:defPPr>
          </a:lstStyle>
          <a:p xmlns:a="http://schemas.openxmlformats.org/drawingml/2006/main">
            <a:pPr>
              <a:defRPr sz="5700" b="1">
                <a:solidFill>
                  <a:srgbClr val="176E50"/>
                </a:solidFill>
              </a:defRPr>
            </a:pPr>
            <a:r>
              <a:rPr sz="5700" b="1">
                <a:solidFill>
                  <a:srgbClr val="176E50"/>
                </a:solidFill>
              </a:rPr>
              <a:t>12 requests</a:t>
            </a:r>
          </a:p>
        </p:txBody>
      </p:sp>
      <p:sp>
        <p:nvSpPr>
          <p:cNvPr id="4" name="">
            <a:extLst xmlns:a="http://schemas.openxmlformats.org/drawingml/2006/main">
              <a:ext uri="{FF2B5EF4-FFF2-40B4-BE49-F238E27FC236}">
                <a16:creationId xmlns:a16="http://schemas.microsoft.com/office/drawing/2014/main" id="{8C5066B3-6EF0-4EA8-9298-1A4DCC207A0B}"/>
              </a:ext>
            </a:extLst>
          </p:cNvPr>
          <p:cNvSpPr>
            <a:spLocks xmlns:a="http://schemas.openxmlformats.org/drawingml/2006/main" noGrp="1"/>
          </p:cNvSpPr>
          <p:nvPr/>
        </p:nvSpPr>
        <p:spPr>
          <a:xfrm xmlns:a="http://schemas.openxmlformats.org/drawingml/2006/main">
            <a:off x="666750" y="27051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83A2B"/>
                </a:solidFill>
              </a:defRPr>
            </a:defPPr>
          </a:lstStyle>
          <a:p xmlns:a="http://schemas.openxmlformats.org/drawingml/2006/main">
            <a:pPr>
              <a:defRPr sz="3000" b="0">
                <a:solidFill>
                  <a:srgbClr val="183A2B"/>
                </a:solidFill>
              </a:defRPr>
            </a:pPr>
            <a:r>
              <a:rPr sz="3000" b="0">
                <a:solidFill>
                  <a:srgbClr val="183A2B"/>
                </a:solidFill>
              </a:rPr>
              <a:t>compete for one available seat</a:t>
            </a:r>
          </a:p>
        </p:txBody>
      </p:sp>
      <p:sp>
        <p:nvSpPr>
          <p:cNvPr id="5" name="">
            <a:extLst xmlns:a="http://schemas.openxmlformats.org/drawingml/2006/main">
              <a:ext uri="{FF2B5EF4-FFF2-40B4-BE49-F238E27FC236}">
                <a16:creationId xmlns:a16="http://schemas.microsoft.com/office/drawing/2014/main" id="{1BAAF683-4C76-409D-9930-D192937E2661}"/>
              </a:ext>
            </a:extLst>
          </p:cNvPr>
          <p:cNvSpPr>
            <a:spLocks xmlns:a="http://schemas.openxmlformats.org/drawingml/2006/main" noGrp="1"/>
          </p:cNvSpPr>
          <p:nvPr/>
        </p:nvSpPr>
        <p:spPr>
          <a:xfrm xmlns:a="http://schemas.openxmlformats.org/drawingml/2006/main">
            <a:off x="666750" y="3962400"/>
            <a:ext cx="1019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697C6D"/>
                </a:solidFill>
              </a:defRPr>
            </a:defPPr>
          </a:lstStyle>
          <a:p xmlns:a="http://schemas.openxmlformats.org/drawingml/2006/main">
            <a:pPr>
              <a:defRPr sz="2325" b="0">
                <a:solidFill>
                  <a:srgbClr val="697C6D"/>
                </a:solidFill>
              </a:defRPr>
            </a:pPr>
            <a:r>
              <a:rPr sz="2325" b="0">
                <a:solidFill>
                  <a:srgbClr val="697C6D"/>
                </a:solidFill>
              </a:rPr>
              <a:t>The system must serialize conflicting reservations and preserve confirmed bookings when a server process crashes.</a:t>
            </a:r>
          </a:p>
        </p:txBody>
      </p:sp>
      <p:sp>
        <p:nvSpPr>
          <p:cNvPr id="6" name="">
            <a:extLst xmlns:a="http://schemas.openxmlformats.org/drawingml/2006/main">
              <a:ext uri="{FF2B5EF4-FFF2-40B4-BE49-F238E27FC236}">
                <a16:creationId xmlns:a16="http://schemas.microsoft.com/office/drawing/2014/main" id="{5F268193-DF1E-41EB-9ADF-01CAFAD7AF6B}"/>
              </a:ext>
            </a:extLst>
          </p:cNvPr>
          <p:cNvSpPr>
            <a:spLocks xmlns:a="http://schemas.openxmlformats.org/drawingml/2006/main" noGrp="1"/>
          </p:cNvSpPr>
          <p:nvPr/>
        </p:nvSpPr>
        <p:spPr>
          <a:xfrm xmlns:a="http://schemas.openxmlformats.org/drawingml/2006/main">
            <a:off x="666750" y="55816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6E50"/>
                </a:solidFill>
              </a:defRPr>
            </a:defPPr>
          </a:lstStyle>
          <a:p xmlns:a="http://schemas.openxmlformats.org/drawingml/2006/main">
            <a:pPr>
              <a:defRPr sz="1950" b="1">
                <a:solidFill>
                  <a:srgbClr val="176E50"/>
                </a:solidFill>
              </a:defRPr>
            </a:pPr>
            <a:r>
              <a:rPr sz="1950" b="1">
                <a:solidFill>
                  <a:srgbClr val="176E50"/>
                </a:solidFill>
              </a:rPr>
              <a:t>Demonstration goal: one confirmed owner for each seat</a:t>
            </a:r>
          </a:p>
        </p:txBody>
      </p:sp>
    </p:spTree>
    <p:extLst>
      <p:ext uri="{BB962C8B-B14F-4D97-AF65-F5344CB8AC3E}">
        <p14:creationId xmlns:p14="http://schemas.microsoft.com/office/powerpoint/2010/main" val="1311070898"/>
      </p:ext>
    </p:extLst>
  </p:cSld>
</p:sld>
</file>

<file path=ppt/slides/slide3.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E809E1-205A-4DD5-B642-D154106B1F62}"/>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Independent processes on one laptop</a:t>
            </a:r>
          </a:p>
        </p:txBody>
      </p:sp>
      <p:sp>
        <p:nvSpPr>
          <p:cNvPr id="2" name="">
            <a:extLst xmlns:a="http://schemas.openxmlformats.org/drawingml/2006/main">
              <a:ext uri="{FF2B5EF4-FFF2-40B4-BE49-F238E27FC236}">
                <a16:creationId xmlns:a16="http://schemas.microsoft.com/office/drawing/2014/main" id="{EB0C05DA-83D6-47ED-A0AF-8B500080A44B}"/>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03</a:t>
            </a:r>
          </a:p>
        </p:txBody>
      </p:sp>
      <p:graphicFrame>
        <p:nvGraphicFramePr>
          <p:cNvPr id="3" name="">
            <a:extLst xmlns:a="http://schemas.openxmlformats.org/drawingml/2006/main">
              <a:ext uri="{FF2B5EF4-FFF2-40B4-BE49-F238E27FC236}">
                <a16:creationId xmlns:a16="http://schemas.microsoft.com/office/drawing/2014/main" id="{B193F0DB-34E7-4F29-9870-103DD4555B86}"/>
              </a:ext>
            </a:extLst>
          </p:cNvPr>
          <p:cNvGraphicFramePr/>
          <p:nvPr/>
        </p:nvGraphicFramePr>
        <p:xfrm>
          <a:off xmlns:a="http://schemas.openxmlformats.org/drawingml/2006/main" x="609600" y="1476375"/>
          <a:ext xmlns:a="http://schemas.openxmlformats.org/drawingml/2006/main" cx="10972800" cy="3714750"/>
        </p:xfrm>
        <a:graphic xmlns:a="http://schemas.openxmlformats.org/drawingml/2006/main">
          <a:graphicData uri="http://schemas.openxmlformats.org/drawingml/2006/table">
            <a:tbl>
              <a:tblPr/>
              <a:tblGrid>
                <a:gridCol w="3143250"/>
                <a:gridCol w="3333750"/>
                <a:gridCol w="4495800"/>
              </a:tblGrid>
              <a:tr h="742950">
                <a:tc>
                  <a:txBody>
                    <a:bodyPr/>
                    <a:lstStyle/>
                    <a:p>
                      <a:r>
                        <a:rPr sz="1650" b="1">
                          <a:solidFill>
                            <a:srgbClr val="FFFFFF"/>
                          </a:solidFill>
                        </a:rPr>
                        <a:t>Component</a:t>
                      </a:r>
                    </a:p>
                  </a:txBody>
                  <a:tcPr marL="142875" marR="142875" marT="114300" marB="114300">
                    <a:lnL w="9525">
                      <a:solidFill>
                        <a:srgbClr val="D2DCCD"/>
                      </a:solidFill>
                      <a:prstDash val="solid"/>
                    </a:lnL>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c>
                  <a:txBody>
                    <a:bodyPr/>
                    <a:lstStyle/>
                    <a:p>
                      <a:r>
                        <a:rPr sz="1650" b="1">
                          <a:solidFill>
                            <a:srgbClr val="FFFFFF"/>
                          </a:solidFill>
                        </a:rPr>
                        <a:t>Address</a:t>
                      </a:r>
                    </a:p>
                  </a:txBody>
                  <a:tcPr marL="142875" marR="142875" marT="114300" marB="114300">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c>
                  <a:txBody>
                    <a:bodyPr/>
                    <a:lstStyle/>
                    <a:p>
                      <a:r>
                        <a:rPr sz="1650" b="1">
                          <a:solidFill>
                            <a:srgbClr val="FFFFFF"/>
                          </a:solidFill>
                        </a:rPr>
                        <a:t>Responsibility</a:t>
                      </a:r>
                    </a:p>
                  </a:txBody>
                  <a:tcPr marL="142875" marR="142875" marT="114300" marB="114300">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r>
              <a:tr h="742950">
                <a:tc>
                  <a:txBody>
                    <a:bodyPr/>
                    <a:lstStyle/>
                    <a:p>
                      <a:r>
                        <a:rPr sz="1650" b="0">
                          <a:solidFill>
                            <a:srgbClr val="183A2B"/>
                          </a:solidFill>
                        </a:rPr>
                        <a:t>Browser and gateway</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127.0.0.1:18780</a:t>
                      </a:r>
                    </a:p>
                  </a:txBody>
                  <a:tcPr marL="142875" marR="142875" marT="114300" marB="114300">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Booking UI and process controls</a:t>
                      </a:r>
                    </a:p>
                  </a:txBody>
                  <a:tcPr marL="142875" marR="142875" marT="114300" marB="114300">
                    <a:lnR w="9525">
                      <a:solidFill>
                        <a:srgbClr val="D2DCCD"/>
                      </a:solidFill>
                      <a:prstDash val="solid"/>
                    </a:lnR>
                    <a:lnB w="9525">
                      <a:solidFill>
                        <a:srgbClr val="D2DCCD"/>
                      </a:solidFill>
                      <a:prstDash val="solid"/>
                    </a:lnB>
                    <a:solidFill>
                      <a:srgbClr val="FFFFFF"/>
                    </a:solidFill>
                  </a:tcPr>
                </a:tc>
              </a:tr>
              <a:tr h="742950">
                <a:tc>
                  <a:txBody>
                    <a:bodyPr/>
                    <a:lstStyle/>
                    <a:p>
                      <a:r>
                        <a:rPr sz="1650" b="0">
                          <a:solidFill>
                            <a:srgbClr val="183A2B"/>
                          </a:solidFill>
                        </a:rPr>
                        <a:t>Node 01</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127.0.0.1:18791</a:t>
                      </a:r>
                    </a:p>
                  </a:txBody>
                  <a:tcPr marL="142875" marR="142875" marT="114300" marB="114300">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Entry server and replica</a:t>
                      </a:r>
                    </a:p>
                  </a:txBody>
                  <a:tcPr marL="142875" marR="142875" marT="114300" marB="114300">
                    <a:lnR w="9525">
                      <a:solidFill>
                        <a:srgbClr val="D2DCCD"/>
                      </a:solidFill>
                      <a:prstDash val="solid"/>
                    </a:lnR>
                    <a:lnB w="9525">
                      <a:solidFill>
                        <a:srgbClr val="D2DCCD"/>
                      </a:solidFill>
                      <a:prstDash val="solid"/>
                    </a:lnB>
                    <a:solidFill>
                      <a:srgbClr val="EAF0E6"/>
                    </a:solidFill>
                  </a:tcPr>
                </a:tc>
              </a:tr>
              <a:tr h="742950">
                <a:tc>
                  <a:txBody>
                    <a:bodyPr/>
                    <a:lstStyle/>
                    <a:p>
                      <a:r>
                        <a:rPr sz="1650" b="0">
                          <a:solidFill>
                            <a:srgbClr val="183A2B"/>
                          </a:solidFill>
                        </a:rPr>
                        <a:t>Node 02</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127.0.0.1:18792</a:t>
                      </a:r>
                    </a:p>
                  </a:txBody>
                  <a:tcPr marL="142875" marR="142875" marT="114300" marB="114300">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Entry server and replica</a:t>
                      </a:r>
                    </a:p>
                  </a:txBody>
                  <a:tcPr marL="142875" marR="142875" marT="114300" marB="114300">
                    <a:lnR w="9525">
                      <a:solidFill>
                        <a:srgbClr val="D2DCCD"/>
                      </a:solidFill>
                      <a:prstDash val="solid"/>
                    </a:lnR>
                    <a:lnB w="9525">
                      <a:solidFill>
                        <a:srgbClr val="D2DCCD"/>
                      </a:solidFill>
                      <a:prstDash val="solid"/>
                    </a:lnB>
                    <a:solidFill>
                      <a:srgbClr val="FFFFFF"/>
                    </a:solidFill>
                  </a:tcPr>
                </a:tc>
              </a:tr>
              <a:tr h="742950">
                <a:tc>
                  <a:txBody>
                    <a:bodyPr/>
                    <a:lstStyle/>
                    <a:p>
                      <a:r>
                        <a:rPr sz="1650" b="0">
                          <a:solidFill>
                            <a:srgbClr val="183A2B"/>
                          </a:solidFill>
                        </a:rPr>
                        <a:t>Node 03</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127.0.0.1:18793</a:t>
                      </a:r>
                    </a:p>
                  </a:txBody>
                  <a:tcPr marL="142875" marR="142875" marT="114300" marB="114300">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Initial coordinator and replica</a:t>
                      </a:r>
                    </a:p>
                  </a:txBody>
                  <a:tcPr marL="142875" marR="142875" marT="114300" marB="114300">
                    <a:lnR w="9525">
                      <a:solidFill>
                        <a:srgbClr val="D2DCCD"/>
                      </a:solidFill>
                      <a:prstDash val="solid"/>
                    </a:lnR>
                    <a:lnB w="9525">
                      <a:solidFill>
                        <a:srgbClr val="D2DCCD"/>
                      </a:solidFill>
                      <a:prstDash val="solid"/>
                    </a:lnB>
                    <a:solidFill>
                      <a:srgbClr val="EAF0E6"/>
                    </a:solidFill>
                  </a:tcPr>
                </a:tc>
              </a:tr>
            </a:tbl>
          </a:graphicData>
        </a:graphic>
      </p:graphicFrame>
      <p:sp>
        <p:nvSpPr>
          <p:cNvPr id="4" name="">
            <a:extLst xmlns:a="http://schemas.openxmlformats.org/drawingml/2006/main">
              <a:ext uri="{FF2B5EF4-FFF2-40B4-BE49-F238E27FC236}">
                <a16:creationId xmlns:a16="http://schemas.microsoft.com/office/drawing/2014/main" id="{05EB3B03-9727-4D9D-9BEF-3A6933145570}"/>
              </a:ext>
            </a:extLst>
          </p:cNvPr>
          <p:cNvSpPr>
            <a:spLocks xmlns:a="http://schemas.openxmlformats.org/drawingml/2006/main" noGrp="1"/>
          </p:cNvSpPr>
          <p:nvPr/>
        </p:nvSpPr>
        <p:spPr>
          <a:xfrm xmlns:a="http://schemas.openxmlformats.org/drawingml/2006/main">
            <a:off x="628650" y="54959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97C6D"/>
                </a:solidFill>
              </a:defRPr>
            </a:defPPr>
          </a:lstStyle>
          <a:p xmlns:a="http://schemas.openxmlformats.org/drawingml/2006/main">
            <a:pPr>
              <a:defRPr sz="1875" b="0">
                <a:solidFill>
                  <a:srgbClr val="697C6D"/>
                </a:solidFill>
              </a:defRPr>
            </a:pPr>
            <a:r>
              <a:rPr sz="1875" b="0">
                <a:solidFill>
                  <a:srgbClr val="697C6D"/>
                </a:solidFill>
              </a:rPr>
              <a:t>Each replica owns a separate SQLite database. All booking messages travel over local HTTP RPC.</a:t>
            </a:r>
          </a:p>
        </p:txBody>
      </p:sp>
    </p:spTree>
    <p:extLst>
      <p:ext uri="{BB962C8B-B14F-4D97-AF65-F5344CB8AC3E}">
        <p14:creationId xmlns:p14="http://schemas.microsoft.com/office/powerpoint/2010/main" val="1544273960"/>
      </p:ext>
    </p:extLst>
  </p:cSld>
</p:sld>
</file>

<file path=ppt/slides/slide4.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938807-EE12-4089-986A-4573967558B1}"/>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A reservation through the cluster</a:t>
            </a:r>
          </a:p>
        </p:txBody>
      </p:sp>
      <p:sp>
        <p:nvSpPr>
          <p:cNvPr id="2" name="">
            <a:extLst xmlns:a="http://schemas.openxmlformats.org/drawingml/2006/main">
              <a:ext uri="{FF2B5EF4-FFF2-40B4-BE49-F238E27FC236}">
                <a16:creationId xmlns:a16="http://schemas.microsoft.com/office/drawing/2014/main" id="{BC28DD89-440D-4B33-8866-68325F63CBAB}"/>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04</a:t>
            </a:r>
          </a:p>
        </p:txBody>
      </p:sp>
      <p:sp>
        <p:nvSpPr>
          <p:cNvPr id="3" name="">
            <a:extLst xmlns:a="http://schemas.openxmlformats.org/drawingml/2006/main">
              <a:ext uri="{FF2B5EF4-FFF2-40B4-BE49-F238E27FC236}">
                <a16:creationId xmlns:a16="http://schemas.microsoft.com/office/drawing/2014/main" id="{55A775B6-0758-4EB0-8279-7FF604207784}"/>
              </a:ext>
            </a:extLst>
          </p:cNvPr>
          <p:cNvSpPr>
            <a:spLocks xmlns:a="http://schemas.openxmlformats.org/drawingml/2006/main" noGrp="1"/>
          </p:cNvSpPr>
          <p:nvPr/>
        </p:nvSpPr>
        <p:spPr>
          <a:xfrm xmlns:a="http://schemas.openxmlformats.org/drawingml/2006/main">
            <a:off x="628650" y="14763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1  Select a seat</a:t>
            </a:r>
          </a:p>
        </p:txBody>
      </p:sp>
      <p:sp>
        <p:nvSpPr>
          <p:cNvPr id="4" name="">
            <a:extLst xmlns:a="http://schemas.openxmlformats.org/drawingml/2006/main">
              <a:ext uri="{FF2B5EF4-FFF2-40B4-BE49-F238E27FC236}">
                <a16:creationId xmlns:a16="http://schemas.microsoft.com/office/drawing/2014/main" id="{0EA4F99C-50EC-4138-8CAB-CBE2CC579C1C}"/>
              </a:ext>
            </a:extLst>
          </p:cNvPr>
          <p:cNvSpPr>
            <a:spLocks xmlns:a="http://schemas.openxmlformats.org/drawingml/2006/main" noGrp="1"/>
          </p:cNvSpPr>
          <p:nvPr/>
        </p:nvSpPr>
        <p:spPr>
          <a:xfrm xmlns:a="http://schemas.openxmlformats.org/drawingml/2006/main">
            <a:off x="628650" y="1905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The client chooses an available seat and an entry server.</a:t>
            </a:r>
          </a:p>
        </p:txBody>
      </p:sp>
      <p:sp>
        <p:nvSpPr>
          <p:cNvPr id="5" name="">
            <a:extLst xmlns:a="http://schemas.openxmlformats.org/drawingml/2006/main">
              <a:ext uri="{FF2B5EF4-FFF2-40B4-BE49-F238E27FC236}">
                <a16:creationId xmlns:a16="http://schemas.microsoft.com/office/drawing/2014/main" id="{81F3268C-E723-4113-9F52-0CC55BD3DBE9}"/>
              </a:ext>
            </a:extLst>
          </p:cNvPr>
          <p:cNvSpPr>
            <a:spLocks xmlns:a="http://schemas.openxmlformats.org/drawingml/2006/main" noGrp="1"/>
          </p:cNvSpPr>
          <p:nvPr/>
        </p:nvSpPr>
        <p:spPr>
          <a:xfrm xmlns:a="http://schemas.openxmlformats.org/drawingml/2006/main">
            <a:off x="628650" y="29241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2  Request exclusive access</a:t>
            </a:r>
          </a:p>
        </p:txBody>
      </p:sp>
      <p:sp>
        <p:nvSpPr>
          <p:cNvPr id="6" name="">
            <a:extLst xmlns:a="http://schemas.openxmlformats.org/drawingml/2006/main">
              <a:ext uri="{FF2B5EF4-FFF2-40B4-BE49-F238E27FC236}">
                <a16:creationId xmlns:a16="http://schemas.microsoft.com/office/drawing/2014/main" id="{20708AE4-6971-4F3F-9438-1B0B3DC8BFC4}"/>
              </a:ext>
            </a:extLst>
          </p:cNvPr>
          <p:cNvSpPr>
            <a:spLocks xmlns:a="http://schemas.openxmlformats.org/drawingml/2006/main" noGrp="1"/>
          </p:cNvSpPr>
          <p:nvPr/>
        </p:nvSpPr>
        <p:spPr>
          <a:xfrm xmlns:a="http://schemas.openxmlformats.org/drawingml/2006/main">
            <a:off x="628650" y="33528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The entry node forwards to the elected coordinator.</a:t>
            </a:r>
          </a:p>
        </p:txBody>
      </p:sp>
      <p:sp>
        <p:nvSpPr>
          <p:cNvPr id="7" name="">
            <a:extLst xmlns:a="http://schemas.openxmlformats.org/drawingml/2006/main">
              <a:ext uri="{FF2B5EF4-FFF2-40B4-BE49-F238E27FC236}">
                <a16:creationId xmlns:a16="http://schemas.microsoft.com/office/drawing/2014/main" id="{E29E4917-1B90-4C36-AF36-AA12838DB34D}"/>
              </a:ext>
            </a:extLst>
          </p:cNvPr>
          <p:cNvSpPr>
            <a:spLocks xmlns:a="http://schemas.openxmlformats.org/drawingml/2006/main" noGrp="1"/>
          </p:cNvSpPr>
          <p:nvPr/>
        </p:nvSpPr>
        <p:spPr>
          <a:xfrm xmlns:a="http://schemas.openxmlformats.org/drawingml/2006/main">
            <a:off x="628650" y="43719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3  Confirm durable copies</a:t>
            </a:r>
          </a:p>
        </p:txBody>
      </p:sp>
      <p:sp>
        <p:nvSpPr>
          <p:cNvPr id="8" name="">
            <a:extLst xmlns:a="http://schemas.openxmlformats.org/drawingml/2006/main">
              <a:ext uri="{FF2B5EF4-FFF2-40B4-BE49-F238E27FC236}">
                <a16:creationId xmlns:a16="http://schemas.microsoft.com/office/drawing/2014/main" id="{4E91D522-004E-4399-AD59-ACF3799D21CD}"/>
              </a:ext>
            </a:extLst>
          </p:cNvPr>
          <p:cNvSpPr>
            <a:spLocks xmlns:a="http://schemas.openxmlformats.org/drawingml/2006/main" noGrp="1"/>
          </p:cNvSpPr>
          <p:nvPr/>
        </p:nvSpPr>
        <p:spPr>
          <a:xfrm xmlns:a="http://schemas.openxmlformats.org/drawingml/2006/main">
            <a:off x="628650" y="48006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The coordinator records the reservation and waits for two replicas.</a:t>
            </a:r>
          </a:p>
        </p:txBody>
      </p:sp>
      <p:pic>
        <p:nvPicPr>
          <p:cNvPr id="9" name="">
            <a:extLst xmlns:a="http://schemas.openxmlformats.org/drawingml/2006/main">
              <a:ext uri="{FF2B5EF4-FFF2-40B4-BE49-F238E27FC236}">
                <a16:creationId xmlns:a16="http://schemas.microsoft.com/office/drawing/2014/main" id="{E1238AA4-421C-4FE3-957E-02A55DC6641C}"/>
              </a:ext>
            </a:extLst>
          </p:cNvPr>
          <p:cNvPicPr>
            <a:picLocks xmlns:a="http://schemas.openxmlformats.org/drawingml/2006/main" noChangeAspect="1"/>
          </p:cNvPicPr>
          <p:nvPr/>
        </p:nvPicPr>
        <p:blipFill>
          <a:blip xmlns:r="http://schemas.openxmlformats.org/officeDocument/2006/relationships" xmlns:a="http://schemas.openxmlformats.org/drawingml/2006/main" r:embed="R9c0aba1de4894c55"/>
          <a:stretch xmlns:a="http://schemas.openxmlformats.org/drawingml/2006/main"/>
        </p:blipFill>
        <p:spPr>
          <a:xfrm xmlns:a="http://schemas.openxmlformats.org/drawingml/2006/main">
            <a:off x="7251032" y="1285875"/>
            <a:ext cx="3547811" cy="4953000"/>
          </a:xfrm>
          <a:prstGeom xmlns:a="http://schemas.openxmlformats.org/drawingml/2006/main" prst="rect">
            <a:avLst/>
          </a:prstGeom>
        </p:spPr>
      </p:pic>
    </p:spTree>
    <p:extLst>
      <p:ext uri="{BB962C8B-B14F-4D97-AF65-F5344CB8AC3E}">
        <p14:creationId xmlns:p14="http://schemas.microsoft.com/office/powerpoint/2010/main" val="964648534"/>
      </p:ext>
    </p:extLst>
  </p:cSld>
</p:sld>
</file>

<file path=ppt/slides/slide5.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4669A7-0816-40B0-A966-E72EED645E49}"/>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Centralized distributed mutual exclusion</a:t>
            </a:r>
          </a:p>
        </p:txBody>
      </p:sp>
      <p:sp>
        <p:nvSpPr>
          <p:cNvPr id="2" name="">
            <a:extLst xmlns:a="http://schemas.openxmlformats.org/drawingml/2006/main">
              <a:ext uri="{FF2B5EF4-FFF2-40B4-BE49-F238E27FC236}">
                <a16:creationId xmlns:a16="http://schemas.microsoft.com/office/drawing/2014/main" id="{1ED1756E-524F-4028-953B-442320B9CBDC}"/>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05</a:t>
            </a:r>
          </a:p>
        </p:txBody>
      </p:sp>
      <p:sp>
        <p:nvSpPr>
          <p:cNvPr id="3" name="">
            <a:extLst xmlns:a="http://schemas.openxmlformats.org/drawingml/2006/main">
              <a:ext uri="{FF2B5EF4-FFF2-40B4-BE49-F238E27FC236}">
                <a16:creationId xmlns:a16="http://schemas.microsoft.com/office/drawing/2014/main" id="{723F6877-A128-44FE-B9AC-B6E315E0733D}"/>
              </a:ext>
            </a:extLst>
          </p:cNvPr>
          <p:cNvSpPr>
            <a:spLocks xmlns:a="http://schemas.openxmlformats.org/drawingml/2006/main" noGrp="1"/>
          </p:cNvSpPr>
          <p:nvPr/>
        </p:nvSpPr>
        <p:spPr>
          <a:xfrm xmlns:a="http://schemas.openxmlformats.org/drawingml/2006/main">
            <a:off x="628650" y="14668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One coordinator grants access</a:t>
            </a:r>
          </a:p>
        </p:txBody>
      </p:sp>
      <p:sp>
        <p:nvSpPr>
          <p:cNvPr id="4" name="">
            <a:extLst xmlns:a="http://schemas.openxmlformats.org/drawingml/2006/main">
              <a:ext uri="{FF2B5EF4-FFF2-40B4-BE49-F238E27FC236}">
                <a16:creationId xmlns:a16="http://schemas.microsoft.com/office/drawing/2014/main" id="{1C4757C5-3148-40CA-B3A2-8F5EC96C5CDE}"/>
              </a:ext>
            </a:extLst>
          </p:cNvPr>
          <p:cNvSpPr>
            <a:spLocks xmlns:a="http://schemas.openxmlformats.org/drawingml/2006/main" noGrp="1"/>
          </p:cNvSpPr>
          <p:nvPr/>
        </p:nvSpPr>
        <p:spPr>
          <a:xfrm xmlns:a="http://schemas.openxmlformats.org/drawingml/2006/main">
            <a:off x="628650" y="18954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A mutex protects the seat check and the replicated reservation update.</a:t>
            </a:r>
          </a:p>
        </p:txBody>
      </p:sp>
      <p:sp>
        <p:nvSpPr>
          <p:cNvPr id="5" name="">
            <a:extLst xmlns:a="http://schemas.openxmlformats.org/drawingml/2006/main">
              <a:ext uri="{FF2B5EF4-FFF2-40B4-BE49-F238E27FC236}">
                <a16:creationId xmlns:a16="http://schemas.microsoft.com/office/drawing/2014/main" id="{490BFE6B-AC0E-443D-8455-B06509AEFFBF}"/>
              </a:ext>
            </a:extLst>
          </p:cNvPr>
          <p:cNvSpPr>
            <a:spLocks xmlns:a="http://schemas.openxmlformats.org/drawingml/2006/main" noGrp="1"/>
          </p:cNvSpPr>
          <p:nvPr/>
        </p:nvSpPr>
        <p:spPr>
          <a:xfrm xmlns:a="http://schemas.openxmlformats.org/drawingml/2006/main">
            <a:off x="628650" y="30670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One winner under contention</a:t>
            </a:r>
          </a:p>
        </p:txBody>
      </p:sp>
      <p:sp>
        <p:nvSpPr>
          <p:cNvPr id="6" name="">
            <a:extLst xmlns:a="http://schemas.openxmlformats.org/drawingml/2006/main">
              <a:ext uri="{FF2B5EF4-FFF2-40B4-BE49-F238E27FC236}">
                <a16:creationId xmlns:a16="http://schemas.microsoft.com/office/drawing/2014/main" id="{0C9DF9E6-643D-46B8-9494-AD3780915231}"/>
              </a:ext>
            </a:extLst>
          </p:cNvPr>
          <p:cNvSpPr>
            <a:spLocks xmlns:a="http://schemas.openxmlformats.org/drawingml/2006/main" noGrp="1"/>
          </p:cNvSpPr>
          <p:nvPr/>
        </p:nvSpPr>
        <p:spPr>
          <a:xfrm xmlns:a="http://schemas.openxmlformats.org/drawingml/2006/main">
            <a:off x="628650" y="34956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Later contenders see the reserved seat and receive a conflict response.</a:t>
            </a:r>
          </a:p>
        </p:txBody>
      </p:sp>
      <p:sp>
        <p:nvSpPr>
          <p:cNvPr id="7" name="">
            <a:extLst xmlns:a="http://schemas.openxmlformats.org/drawingml/2006/main">
              <a:ext uri="{FF2B5EF4-FFF2-40B4-BE49-F238E27FC236}">
                <a16:creationId xmlns:a16="http://schemas.microsoft.com/office/drawing/2014/main" id="{9756EE9B-B68B-4773-BE81-0570B280003C}"/>
              </a:ext>
            </a:extLst>
          </p:cNvPr>
          <p:cNvSpPr>
            <a:spLocks xmlns:a="http://schemas.openxmlformats.org/drawingml/2006/main" noGrp="1"/>
          </p:cNvSpPr>
          <p:nvPr/>
        </p:nvSpPr>
        <p:spPr>
          <a:xfrm xmlns:a="http://schemas.openxmlformats.org/drawingml/2006/main">
            <a:off x="628650" y="50482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97C6D"/>
                </a:solidFill>
              </a:defRPr>
            </a:defPPr>
          </a:lstStyle>
          <a:p xmlns:a="http://schemas.openxmlformats.org/drawingml/2006/main">
            <a:pPr>
              <a:defRPr sz="1800" b="0">
                <a:solidFill>
                  <a:srgbClr val="697C6D"/>
                </a:solidFill>
              </a:defRPr>
            </a:pPr>
            <a:r>
              <a:rPr sz="1800" b="0">
                <a:solidFill>
                  <a:srgbClr val="697C6D"/>
                </a:solidFill>
              </a:rPr>
              <a:t>The critical section includes an intentional 55 ms teaching delay.</a:t>
            </a:r>
          </a:p>
        </p:txBody>
      </p:sp>
      <p:pic>
        <p:nvPicPr>
          <p:cNvPr id="8" name="">
            <a:extLst xmlns:a="http://schemas.openxmlformats.org/drawingml/2006/main">
              <a:ext uri="{FF2B5EF4-FFF2-40B4-BE49-F238E27FC236}">
                <a16:creationId xmlns:a16="http://schemas.microsoft.com/office/drawing/2014/main" id="{33410169-EBE0-4FBE-8929-AAC507EC0B94}"/>
              </a:ext>
            </a:extLst>
          </p:cNvPr>
          <p:cNvPicPr>
            <a:picLocks xmlns:a="http://schemas.openxmlformats.org/drawingml/2006/main" noChangeAspect="1"/>
          </p:cNvPicPr>
          <p:nvPr/>
        </p:nvPicPr>
        <p:blipFill>
          <a:blip xmlns:r="http://schemas.openxmlformats.org/officeDocument/2006/relationships" xmlns:a="http://schemas.openxmlformats.org/drawingml/2006/main" r:embed="R6b24bd60b37e46a2"/>
          <a:stretch xmlns:a="http://schemas.openxmlformats.org/drawingml/2006/main"/>
        </p:blipFill>
        <p:spPr>
          <a:xfrm xmlns:a="http://schemas.openxmlformats.org/drawingml/2006/main">
            <a:off x="6184165" y="1685925"/>
            <a:ext cx="5424369" cy="35718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226B8CB-F67F-4A65-9A78-48AC5B946D0C}"/>
              </a:ext>
            </a:extLst>
          </p:cNvPr>
          <p:cNvSpPr>
            <a:spLocks xmlns:a="http://schemas.openxmlformats.org/drawingml/2006/main" noGrp="1"/>
          </p:cNvSpPr>
          <p:nvPr/>
        </p:nvSpPr>
        <p:spPr>
          <a:xfrm xmlns:a="http://schemas.openxmlformats.org/drawingml/2006/main">
            <a:off x="6286500" y="54673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97C6D"/>
                </a:solidFill>
              </a:defRPr>
            </a:defPPr>
          </a:lstStyle>
          <a:p xmlns:a="http://schemas.openxmlformats.org/drawingml/2006/main">
            <a:pPr>
              <a:defRPr sz="1650" b="0">
                <a:solidFill>
                  <a:srgbClr val="697C6D"/>
                </a:solidFill>
              </a:defRPr>
            </a:pPr>
            <a:r>
              <a:rPr sz="1650" b="0">
                <a:solidFill>
                  <a:srgbClr val="697C6D"/>
                </a:solidFill>
              </a:rPr>
              <a:t>Actual local browser experiment</a:t>
            </a:r>
          </a:p>
        </p:txBody>
      </p:sp>
    </p:spTree>
    <p:extLst>
      <p:ext uri="{BB962C8B-B14F-4D97-AF65-F5344CB8AC3E}">
        <p14:creationId xmlns:p14="http://schemas.microsoft.com/office/powerpoint/2010/main" val="157313240"/>
      </p:ext>
    </p:extLst>
  </p:cSld>
</p:sld>
</file>

<file path=ppt/slides/slide6.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1E9446-E813-4FF5-BBFC-1E3787BB8180}"/>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Bully election after a coordinator crash</a:t>
            </a:r>
          </a:p>
        </p:txBody>
      </p:sp>
      <p:sp>
        <p:nvSpPr>
          <p:cNvPr id="2" name="">
            <a:extLst xmlns:a="http://schemas.openxmlformats.org/drawingml/2006/main">
              <a:ext uri="{FF2B5EF4-FFF2-40B4-BE49-F238E27FC236}">
                <a16:creationId xmlns:a16="http://schemas.microsoft.com/office/drawing/2014/main" id="{E9E3A024-3EEA-4209-BD05-AB4B20670782}"/>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06</a:t>
            </a:r>
          </a:p>
        </p:txBody>
      </p:sp>
      <p:sp>
        <p:nvSpPr>
          <p:cNvPr id="3" name="">
            <a:extLst xmlns:a="http://schemas.openxmlformats.org/drawingml/2006/main">
              <a:ext uri="{FF2B5EF4-FFF2-40B4-BE49-F238E27FC236}">
                <a16:creationId xmlns:a16="http://schemas.microsoft.com/office/drawing/2014/main" id="{1EBC6A38-8D6C-4511-9E3F-F452DEE45260}"/>
              </a:ext>
            </a:extLst>
          </p:cNvPr>
          <p:cNvSpPr>
            <a:spLocks xmlns:a="http://schemas.openxmlformats.org/drawingml/2006/main" noGrp="1"/>
          </p:cNvSpPr>
          <p:nvPr/>
        </p:nvSpPr>
        <p:spPr>
          <a:xfrm xmlns:a="http://schemas.openxmlformats.org/drawingml/2006/main">
            <a:off x="628650" y="15144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Failure detection</a:t>
            </a:r>
          </a:p>
        </p:txBody>
      </p:sp>
      <p:sp>
        <p:nvSpPr>
          <p:cNvPr id="4" name="">
            <a:extLst xmlns:a="http://schemas.openxmlformats.org/drawingml/2006/main">
              <a:ext uri="{FF2B5EF4-FFF2-40B4-BE49-F238E27FC236}">
                <a16:creationId xmlns:a16="http://schemas.microsoft.com/office/drawing/2014/main" id="{8AAF3B2D-CD73-4C4A-9E1D-DA33D177CBD6}"/>
              </a:ext>
            </a:extLst>
          </p:cNvPr>
          <p:cNvSpPr>
            <a:spLocks xmlns:a="http://schemas.openxmlformats.org/drawingml/2006/main" noGrp="1"/>
          </p:cNvSpPr>
          <p:nvPr/>
        </p:nvSpPr>
        <p:spPr>
          <a:xfrm xmlns:a="http://schemas.openxmlformats.org/drawingml/2006/main">
            <a:off x="628650" y="19431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A missing coordinator heartbeat triggers an election.</a:t>
            </a:r>
          </a:p>
        </p:txBody>
      </p:sp>
      <p:sp>
        <p:nvSpPr>
          <p:cNvPr id="5" name="">
            <a:extLst xmlns:a="http://schemas.openxmlformats.org/drawingml/2006/main">
              <a:ext uri="{FF2B5EF4-FFF2-40B4-BE49-F238E27FC236}">
                <a16:creationId xmlns:a16="http://schemas.microsoft.com/office/drawing/2014/main" id="{17650F8C-9ACE-46EE-BE75-7C3E3992BC2B}"/>
              </a:ext>
            </a:extLst>
          </p:cNvPr>
          <p:cNvSpPr>
            <a:spLocks xmlns:a="http://schemas.openxmlformats.org/drawingml/2006/main" noGrp="1"/>
          </p:cNvSpPr>
          <p:nvPr/>
        </p:nvSpPr>
        <p:spPr>
          <a:xfrm xmlns:a="http://schemas.openxmlformats.org/drawingml/2006/main">
            <a:off x="628650" y="30384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Election priority</a:t>
            </a:r>
          </a:p>
        </p:txBody>
      </p:sp>
      <p:sp>
        <p:nvSpPr>
          <p:cNvPr id="6" name="">
            <a:extLst xmlns:a="http://schemas.openxmlformats.org/drawingml/2006/main">
              <a:ext uri="{FF2B5EF4-FFF2-40B4-BE49-F238E27FC236}">
                <a16:creationId xmlns:a16="http://schemas.microsoft.com/office/drawing/2014/main" id="{9A0E8220-EED6-40B0-B562-DB658DA587E9}"/>
              </a:ext>
            </a:extLst>
          </p:cNvPr>
          <p:cNvSpPr>
            <a:spLocks xmlns:a="http://schemas.openxmlformats.org/drawingml/2006/main" noGrp="1"/>
          </p:cNvSpPr>
          <p:nvPr/>
        </p:nvSpPr>
        <p:spPr>
          <a:xfrm xmlns:a="http://schemas.openxmlformats.org/drawingml/2006/main">
            <a:off x="628650" y="34671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Higher node IDs take priority. Node 02 wins while Node 03 is offline.</a:t>
            </a:r>
          </a:p>
        </p:txBody>
      </p:sp>
      <p:sp>
        <p:nvSpPr>
          <p:cNvPr id="7" name="">
            <a:extLst xmlns:a="http://schemas.openxmlformats.org/drawingml/2006/main">
              <a:ext uri="{FF2B5EF4-FFF2-40B4-BE49-F238E27FC236}">
                <a16:creationId xmlns:a16="http://schemas.microsoft.com/office/drawing/2014/main" id="{ED7CED52-AC31-4A97-8764-049045EFF6FA}"/>
              </a:ext>
            </a:extLst>
          </p:cNvPr>
          <p:cNvSpPr>
            <a:spLocks xmlns:a="http://schemas.openxmlformats.org/drawingml/2006/main" noGrp="1"/>
          </p:cNvSpPr>
          <p:nvPr/>
        </p:nvSpPr>
        <p:spPr>
          <a:xfrm xmlns:a="http://schemas.openxmlformats.org/drawingml/2006/main">
            <a:off x="628650" y="45624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Recovery before promotion</a:t>
            </a:r>
          </a:p>
        </p:txBody>
      </p:sp>
      <p:sp>
        <p:nvSpPr>
          <p:cNvPr id="8" name="">
            <a:extLst xmlns:a="http://schemas.openxmlformats.org/drawingml/2006/main">
              <a:ext uri="{FF2B5EF4-FFF2-40B4-BE49-F238E27FC236}">
                <a16:creationId xmlns:a16="http://schemas.microsoft.com/office/drawing/2014/main" id="{ACA14913-1E9A-431A-A45E-4B12D2955842}"/>
              </a:ext>
            </a:extLst>
          </p:cNvPr>
          <p:cNvSpPr>
            <a:spLocks xmlns:a="http://schemas.openxmlformats.org/drawingml/2006/main" noGrp="1"/>
          </p:cNvSpPr>
          <p:nvPr/>
        </p:nvSpPr>
        <p:spPr>
          <a:xfrm xmlns:a="http://schemas.openxmlformats.org/drawingml/2006/main">
            <a:off x="628650" y="49911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The candidate reads replicas and requires a quorum before accepting writes.</a:t>
            </a:r>
          </a:p>
        </p:txBody>
      </p:sp>
      <p:pic>
        <p:nvPicPr>
          <p:cNvPr id="9" name="">
            <a:extLst xmlns:a="http://schemas.openxmlformats.org/drawingml/2006/main">
              <a:ext uri="{FF2B5EF4-FFF2-40B4-BE49-F238E27FC236}">
                <a16:creationId xmlns:a16="http://schemas.microsoft.com/office/drawing/2014/main" id="{F11FFD41-9FA1-4F3B-9C21-36FCC795B699}"/>
              </a:ext>
            </a:extLst>
          </p:cNvPr>
          <p:cNvPicPr>
            <a:picLocks xmlns:a="http://schemas.openxmlformats.org/drawingml/2006/main" noChangeAspect="1"/>
          </p:cNvPicPr>
          <p:nvPr/>
        </p:nvPicPr>
        <p:blipFill>
          <a:blip xmlns:r="http://schemas.openxmlformats.org/officeDocument/2006/relationships" xmlns:a="http://schemas.openxmlformats.org/drawingml/2006/main" r:embed="R22cabf558d9a4f8e"/>
          <a:stretch xmlns:a="http://schemas.openxmlformats.org/drawingml/2006/main"/>
        </p:blipFill>
        <p:spPr>
          <a:xfrm xmlns:a="http://schemas.openxmlformats.org/drawingml/2006/main">
            <a:off x="7457412" y="1285875"/>
            <a:ext cx="3182677" cy="4953000"/>
          </a:xfrm>
          <a:prstGeom xmlns:a="http://schemas.openxmlformats.org/drawingml/2006/main" prst="rect">
            <a:avLst/>
          </a:prstGeom>
        </p:spPr>
      </p:pic>
    </p:spTree>
    <p:extLst>
      <p:ext uri="{BB962C8B-B14F-4D97-AF65-F5344CB8AC3E}">
        <p14:creationId xmlns:p14="http://schemas.microsoft.com/office/powerpoint/2010/main" val="2067016341"/>
      </p:ext>
    </p:extLst>
  </p:cSld>
</p:sld>
</file>

<file path=ppt/slides/slide7.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EABA4B-5D31-45A5-AC4B-F5FE6FE38E61}"/>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Replica recovery</a:t>
            </a:r>
          </a:p>
        </p:txBody>
      </p:sp>
      <p:sp>
        <p:nvSpPr>
          <p:cNvPr id="2" name="">
            <a:extLst xmlns:a="http://schemas.openxmlformats.org/drawingml/2006/main">
              <a:ext uri="{FF2B5EF4-FFF2-40B4-BE49-F238E27FC236}">
                <a16:creationId xmlns:a16="http://schemas.microsoft.com/office/drawing/2014/main" id="{AF95F432-8032-4DEC-9FCB-8D2CB11D8C99}"/>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07</a:t>
            </a:r>
          </a:p>
        </p:txBody>
      </p:sp>
      <p:sp>
        <p:nvSpPr>
          <p:cNvPr id="3" name="">
            <a:extLst xmlns:a="http://schemas.openxmlformats.org/drawingml/2006/main">
              <a:ext uri="{FF2B5EF4-FFF2-40B4-BE49-F238E27FC236}">
                <a16:creationId xmlns:a16="http://schemas.microsoft.com/office/drawing/2014/main" id="{49D4A0E6-1757-4C26-B987-07BF8B7E5813}"/>
              </a:ext>
            </a:extLst>
          </p:cNvPr>
          <p:cNvSpPr>
            <a:spLocks xmlns:a="http://schemas.openxmlformats.org/drawingml/2006/main" noGrp="1"/>
          </p:cNvSpPr>
          <p:nvPr/>
        </p:nvSpPr>
        <p:spPr>
          <a:xfrm xmlns:a="http://schemas.openxmlformats.org/drawingml/2006/main">
            <a:off x="628650" y="14763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A returning node starts from disk</a:t>
            </a:r>
          </a:p>
        </p:txBody>
      </p:sp>
      <p:sp>
        <p:nvSpPr>
          <p:cNvPr id="4" name="">
            <a:extLst xmlns:a="http://schemas.openxmlformats.org/drawingml/2006/main">
              <a:ext uri="{FF2B5EF4-FFF2-40B4-BE49-F238E27FC236}">
                <a16:creationId xmlns:a16="http://schemas.microsoft.com/office/drawing/2014/main" id="{8813E8F5-2C39-4064-8437-08D82C8489D6}"/>
              </a:ext>
            </a:extLst>
          </p:cNvPr>
          <p:cNvSpPr>
            <a:spLocks xmlns:a="http://schemas.openxmlformats.org/drawingml/2006/main" noGrp="1"/>
          </p:cNvSpPr>
          <p:nvPr/>
        </p:nvSpPr>
        <p:spPr>
          <a:xfrm xmlns:a="http://schemas.openxmlformats.org/drawingml/2006/main">
            <a:off x="628650" y="19050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Each replica reads its own persistent SQLite state.</a:t>
            </a:r>
          </a:p>
        </p:txBody>
      </p:sp>
      <p:sp>
        <p:nvSpPr>
          <p:cNvPr id="5" name="">
            <a:extLst xmlns:a="http://schemas.openxmlformats.org/drawingml/2006/main">
              <a:ext uri="{FF2B5EF4-FFF2-40B4-BE49-F238E27FC236}">
                <a16:creationId xmlns:a16="http://schemas.microsoft.com/office/drawing/2014/main" id="{791ACC4E-25C7-4030-91AB-6F133CDBA1E9}"/>
              </a:ext>
            </a:extLst>
          </p:cNvPr>
          <p:cNvSpPr>
            <a:spLocks xmlns:a="http://schemas.openxmlformats.org/drawingml/2006/main" noGrp="1"/>
          </p:cNvSpPr>
          <p:nvPr/>
        </p:nvSpPr>
        <p:spPr>
          <a:xfrm xmlns:a="http://schemas.openxmlformats.org/drawingml/2006/main">
            <a:off x="628650" y="29813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Peers supply missing updates</a:t>
            </a:r>
          </a:p>
        </p:txBody>
      </p:sp>
      <p:sp>
        <p:nvSpPr>
          <p:cNvPr id="6" name="">
            <a:extLst xmlns:a="http://schemas.openxmlformats.org/drawingml/2006/main">
              <a:ext uri="{FF2B5EF4-FFF2-40B4-BE49-F238E27FC236}">
                <a16:creationId xmlns:a16="http://schemas.microsoft.com/office/drawing/2014/main" id="{FE568376-6719-4D80-8F65-0EC798B684D5}"/>
              </a:ext>
            </a:extLst>
          </p:cNvPr>
          <p:cNvSpPr>
            <a:spLocks xmlns:a="http://schemas.openxmlformats.org/drawingml/2006/main" noGrp="1"/>
          </p:cNvSpPr>
          <p:nvPr/>
        </p:nvSpPr>
        <p:spPr>
          <a:xfrm xmlns:a="http://schemas.openxmlformats.org/drawingml/2006/main">
            <a:off x="628650" y="34099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Recovery selects the greatest observed term and sequence version.</a:t>
            </a:r>
          </a:p>
        </p:txBody>
      </p:sp>
      <p:sp>
        <p:nvSpPr>
          <p:cNvPr id="7" name="">
            <a:extLst xmlns:a="http://schemas.openxmlformats.org/drawingml/2006/main">
              <a:ext uri="{FF2B5EF4-FFF2-40B4-BE49-F238E27FC236}">
                <a16:creationId xmlns:a16="http://schemas.microsoft.com/office/drawing/2014/main" id="{C6B06F45-42E1-423C-AD3F-A882AFB7FF91}"/>
              </a:ext>
            </a:extLst>
          </p:cNvPr>
          <p:cNvSpPr>
            <a:spLocks xmlns:a="http://schemas.openxmlformats.org/drawingml/2006/main" noGrp="1"/>
          </p:cNvSpPr>
          <p:nvPr/>
        </p:nvSpPr>
        <p:spPr>
          <a:xfrm xmlns:a="http://schemas.openxmlformats.org/drawingml/2006/main">
            <a:off x="628650" y="44862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The cluster converges</a:t>
            </a:r>
          </a:p>
        </p:txBody>
      </p:sp>
      <p:sp>
        <p:nvSpPr>
          <p:cNvPr id="8" name="">
            <a:extLst xmlns:a="http://schemas.openxmlformats.org/drawingml/2006/main">
              <a:ext uri="{FF2B5EF4-FFF2-40B4-BE49-F238E27FC236}">
                <a16:creationId xmlns:a16="http://schemas.microsoft.com/office/drawing/2014/main" id="{E1C41C38-DC6E-49A7-8525-24CD690632B1}"/>
              </a:ext>
            </a:extLst>
          </p:cNvPr>
          <p:cNvSpPr>
            <a:spLocks xmlns:a="http://schemas.openxmlformats.org/drawingml/2006/main" noGrp="1"/>
          </p:cNvSpPr>
          <p:nvPr/>
        </p:nvSpPr>
        <p:spPr>
          <a:xfrm xmlns:a="http://schemas.openxmlformats.org/drawingml/2006/main">
            <a:off x="628650" y="49149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The higher ID regains coordination after state recovery. Reservation records match.</a:t>
            </a:r>
          </a:p>
        </p:txBody>
      </p:sp>
      <p:pic>
        <p:nvPicPr>
          <p:cNvPr id="9" name="">
            <a:extLst xmlns:a="http://schemas.openxmlformats.org/drawingml/2006/main">
              <a:ext uri="{FF2B5EF4-FFF2-40B4-BE49-F238E27FC236}">
                <a16:creationId xmlns:a16="http://schemas.microsoft.com/office/drawing/2014/main" id="{C895F7EA-4473-4375-87CE-3A313345E8BC}"/>
              </a:ext>
            </a:extLst>
          </p:cNvPr>
          <p:cNvPicPr>
            <a:picLocks xmlns:a="http://schemas.openxmlformats.org/drawingml/2006/main" noChangeAspect="1"/>
          </p:cNvPicPr>
          <p:nvPr/>
        </p:nvPicPr>
        <p:blipFill>
          <a:blip xmlns:r="http://schemas.openxmlformats.org/officeDocument/2006/relationships" xmlns:a="http://schemas.openxmlformats.org/drawingml/2006/main" r:embed="R4fec3399927348d0"/>
          <a:stretch xmlns:a="http://schemas.openxmlformats.org/drawingml/2006/main"/>
        </p:blipFill>
        <p:spPr>
          <a:xfrm xmlns:a="http://schemas.openxmlformats.org/drawingml/2006/main">
            <a:off x="6511887" y="1590675"/>
            <a:ext cx="4826077" cy="4095750"/>
          </a:xfrm>
          <a:prstGeom xmlns:a="http://schemas.openxmlformats.org/drawingml/2006/main" prst="rect">
            <a:avLst/>
          </a:prstGeom>
        </p:spPr>
      </p:pic>
    </p:spTree>
    <p:extLst>
      <p:ext uri="{BB962C8B-B14F-4D97-AF65-F5344CB8AC3E}">
        <p14:creationId xmlns:p14="http://schemas.microsoft.com/office/powerpoint/2010/main" val="876044428"/>
      </p:ext>
    </p:extLst>
  </p:cSld>
</p:sld>
</file>

<file path=ppt/slides/slide8.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C4FE43-52C4-4C84-8674-C40033207B9B}"/>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Logical events and message order</a:t>
            </a:r>
          </a:p>
        </p:txBody>
      </p:sp>
      <p:sp>
        <p:nvSpPr>
          <p:cNvPr id="2" name="">
            <a:extLst xmlns:a="http://schemas.openxmlformats.org/drawingml/2006/main">
              <a:ext uri="{FF2B5EF4-FFF2-40B4-BE49-F238E27FC236}">
                <a16:creationId xmlns:a16="http://schemas.microsoft.com/office/drawing/2014/main" id="{7CDB77F0-52B8-463D-8CB2-89B3A2234180}"/>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08</a:t>
            </a:r>
          </a:p>
        </p:txBody>
      </p:sp>
      <p:sp>
        <p:nvSpPr>
          <p:cNvPr id="3" name="">
            <a:extLst xmlns:a="http://schemas.openxmlformats.org/drawingml/2006/main">
              <a:ext uri="{FF2B5EF4-FFF2-40B4-BE49-F238E27FC236}">
                <a16:creationId xmlns:a16="http://schemas.microsoft.com/office/drawing/2014/main" id="{AA96B8C2-2441-4BDB-8257-404621C83052}"/>
              </a:ext>
            </a:extLst>
          </p:cNvPr>
          <p:cNvSpPr>
            <a:spLocks xmlns:a="http://schemas.openxmlformats.org/drawingml/2006/main" noGrp="1"/>
          </p:cNvSpPr>
          <p:nvPr/>
        </p:nvSpPr>
        <p:spPr>
          <a:xfrm xmlns:a="http://schemas.openxmlformats.org/drawingml/2006/main">
            <a:off x="628650" y="14763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E50"/>
                </a:solidFill>
              </a:defRPr>
            </a:defPPr>
          </a:lstStyle>
          <a:p xmlns:a="http://schemas.openxmlformats.org/drawingml/2006/main">
            <a:pPr>
              <a:defRPr sz="2250" b="1">
                <a:solidFill>
                  <a:srgbClr val="176E50"/>
                </a:solidFill>
              </a:defRPr>
            </a:pPr>
            <a:r>
              <a:rPr sz="2250" b="1">
                <a:solidFill>
                  <a:srgbClr val="176E50"/>
                </a:solidFill>
              </a:rPr>
              <a:t>Outgoing message: increment local counter</a:t>
            </a:r>
          </a:p>
        </p:txBody>
      </p:sp>
      <p:sp>
        <p:nvSpPr>
          <p:cNvPr id="4" name="">
            <a:extLst xmlns:a="http://schemas.openxmlformats.org/drawingml/2006/main">
              <a:ext uri="{FF2B5EF4-FFF2-40B4-BE49-F238E27FC236}">
                <a16:creationId xmlns:a16="http://schemas.microsoft.com/office/drawing/2014/main" id="{0AEE96C3-35CE-41A8-B07E-FDA1404EA75B}"/>
              </a:ext>
            </a:extLst>
          </p:cNvPr>
          <p:cNvSpPr>
            <a:spLocks xmlns:a="http://schemas.openxmlformats.org/drawingml/2006/main" noGrp="1"/>
          </p:cNvSpPr>
          <p:nvPr/>
        </p:nvSpPr>
        <p:spPr>
          <a:xfrm xmlns:a="http://schemas.openxmlformats.org/drawingml/2006/main">
            <a:off x="628650" y="21336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E50"/>
                </a:solidFill>
              </a:defRPr>
            </a:defPPr>
          </a:lstStyle>
          <a:p xmlns:a="http://schemas.openxmlformats.org/drawingml/2006/main">
            <a:pPr>
              <a:defRPr sz="2250" b="1">
                <a:solidFill>
                  <a:srgbClr val="176E50"/>
                </a:solidFill>
              </a:defRPr>
            </a:pPr>
            <a:r>
              <a:rPr sz="2250" b="1">
                <a:solidFill>
                  <a:srgbClr val="176E50"/>
                </a:solidFill>
              </a:rPr>
              <a:t>Incoming message: max(local, received) + 1</a:t>
            </a:r>
          </a:p>
        </p:txBody>
      </p:sp>
      <p:sp>
        <p:nvSpPr>
          <p:cNvPr id="5" name="">
            <a:extLst xmlns:a="http://schemas.openxmlformats.org/drawingml/2006/main">
              <a:ext uri="{FF2B5EF4-FFF2-40B4-BE49-F238E27FC236}">
                <a16:creationId xmlns:a16="http://schemas.microsoft.com/office/drawing/2014/main" id="{DF141CD8-6C0D-4D7A-A9F7-3E33DFC06ACA}"/>
              </a:ext>
            </a:extLst>
          </p:cNvPr>
          <p:cNvSpPr>
            <a:spLocks xmlns:a="http://schemas.openxmlformats.org/drawingml/2006/main" noGrp="1"/>
          </p:cNvSpPr>
          <p:nvPr/>
        </p:nvSpPr>
        <p:spPr>
          <a:xfrm xmlns:a="http://schemas.openxmlformats.org/drawingml/2006/main">
            <a:off x="628650" y="2952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97C6D"/>
                </a:solidFill>
              </a:defRPr>
            </a:defPPr>
          </a:lstStyle>
          <a:p xmlns:a="http://schemas.openxmlformats.org/drawingml/2006/main">
            <a:pPr>
              <a:defRPr sz="1875" b="0">
                <a:solidFill>
                  <a:srgbClr val="697C6D"/>
                </a:solidFill>
              </a:defRPr>
            </a:pPr>
            <a:r>
              <a:rPr sz="1875" b="0">
                <a:solidFill>
                  <a:srgbClr val="697C6D"/>
                </a:solidFill>
              </a:rPr>
              <a:t>The timeline exposes election, locking, replication, and booking events.</a:t>
            </a:r>
          </a:p>
        </p:txBody>
      </p:sp>
      <p:pic>
        <p:nvPicPr>
          <p:cNvPr id="6" name="">
            <a:extLst xmlns:a="http://schemas.openxmlformats.org/drawingml/2006/main">
              <a:ext uri="{FF2B5EF4-FFF2-40B4-BE49-F238E27FC236}">
                <a16:creationId xmlns:a16="http://schemas.microsoft.com/office/drawing/2014/main" id="{9DDC524B-D452-49B5-82CD-FB0893EF35F7}"/>
              </a:ext>
            </a:extLst>
          </p:cNvPr>
          <p:cNvPicPr>
            <a:picLocks xmlns:a="http://schemas.openxmlformats.org/drawingml/2006/main" noChangeAspect="1"/>
          </p:cNvPicPr>
          <p:nvPr/>
        </p:nvPicPr>
        <p:blipFill>
          <a:blip xmlns:r="http://schemas.openxmlformats.org/officeDocument/2006/relationships" xmlns:a="http://schemas.openxmlformats.org/drawingml/2006/main" r:embed="R53cf51346b084152"/>
          <a:stretch xmlns:a="http://schemas.openxmlformats.org/drawingml/2006/main"/>
        </p:blipFill>
        <p:spPr>
          <a:xfrm xmlns:a="http://schemas.openxmlformats.org/drawingml/2006/main">
            <a:off x="1607259" y="3800475"/>
            <a:ext cx="8977483" cy="2238375"/>
          </a:xfrm>
          <a:prstGeom xmlns:a="http://schemas.openxmlformats.org/drawingml/2006/main" prst="rect">
            <a:avLst/>
          </a:prstGeom>
        </p:spPr>
      </p:pic>
    </p:spTree>
    <p:extLst>
      <p:ext uri="{BB962C8B-B14F-4D97-AF65-F5344CB8AC3E}">
        <p14:creationId xmlns:p14="http://schemas.microsoft.com/office/powerpoint/2010/main" val="940719085"/>
      </p:ext>
    </p:extLst>
  </p:cSld>
</p:sld>
</file>

<file path=ppt/slides/slide9.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3F9A39-05FD-4B7A-B61C-C0C4D1A2F41D}"/>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Measured local results</a:t>
            </a:r>
          </a:p>
        </p:txBody>
      </p:sp>
      <p:sp>
        <p:nvSpPr>
          <p:cNvPr id="2" name="">
            <a:extLst xmlns:a="http://schemas.openxmlformats.org/drawingml/2006/main">
              <a:ext uri="{FF2B5EF4-FFF2-40B4-BE49-F238E27FC236}">
                <a16:creationId xmlns:a16="http://schemas.microsoft.com/office/drawing/2014/main" id="{F0AAD1D2-E92D-438B-810C-9CFE78DAA597}"/>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09</a:t>
            </a:r>
          </a:p>
        </p:txBody>
      </p:sp>
      <p:graphicFrame>
        <p:nvGraphicFramePr>
          <p:cNvPr id="3" name="">
            <a:extLst xmlns:a="http://schemas.openxmlformats.org/drawingml/2006/main">
              <a:ext uri="{FF2B5EF4-FFF2-40B4-BE49-F238E27FC236}">
                <a16:creationId xmlns:a16="http://schemas.microsoft.com/office/drawing/2014/main" id="{82AB958D-2E83-4E46-B1D5-6659FFC113FB}"/>
              </a:ext>
            </a:extLst>
          </p:cNvPr>
          <p:cNvGraphicFramePr/>
          <p:nvPr/>
        </p:nvGraphicFramePr>
        <p:xfrm>
          <a:off xmlns:a="http://schemas.openxmlformats.org/drawingml/2006/main" x="609600" y="1419225"/>
          <a:ext xmlns:a="http://schemas.openxmlformats.org/drawingml/2006/main" cx="10972800" cy="4162425"/>
        </p:xfrm>
        <a:graphic xmlns:a="http://schemas.openxmlformats.org/drawingml/2006/main">
          <a:graphicData uri="http://schemas.openxmlformats.org/drawingml/2006/table">
            <a:tbl>
              <a:tblPr/>
              <a:tblGrid>
                <a:gridCol w="3714750"/>
                <a:gridCol w="7258050"/>
              </a:tblGrid>
              <a:tr h="693738">
                <a:tc>
                  <a:txBody>
                    <a:bodyPr/>
                    <a:lstStyle/>
                    <a:p>
                      <a:r>
                        <a:rPr sz="1650" b="1">
                          <a:solidFill>
                            <a:srgbClr val="FFFFFF"/>
                          </a:solidFill>
                        </a:rPr>
                        <a:t>Experiment</a:t>
                      </a:r>
                    </a:p>
                  </a:txBody>
                  <a:tcPr marL="142875" marR="142875" marT="114300" marB="114300">
                    <a:lnL w="9525">
                      <a:solidFill>
                        <a:srgbClr val="D2DCCD"/>
                      </a:solidFill>
                      <a:prstDash val="solid"/>
                    </a:lnL>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c>
                  <a:txBody>
                    <a:bodyPr/>
                    <a:lstStyle/>
                    <a:p>
                      <a:r>
                        <a:rPr sz="1650" b="1">
                          <a:solidFill>
                            <a:srgbClr val="FFFFFF"/>
                          </a:solidFill>
                        </a:rPr>
                        <a:t>Observed result</a:t>
                      </a:r>
                    </a:p>
                  </a:txBody>
                  <a:tcPr marL="142875" marR="142875" marT="114300" marB="114300">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r>
              <a:tr h="693738">
                <a:tc>
                  <a:txBody>
                    <a:bodyPr/>
                    <a:lstStyle/>
                    <a:p>
                      <a:r>
                        <a:rPr sz="1650" b="0">
                          <a:solidFill>
                            <a:srgbClr val="183A2B"/>
                          </a:solidFill>
                        </a:rPr>
                        <a:t>Same-seat race</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12 requests, 1 success, 11 conflicts, 0 errors</a:t>
                      </a:r>
                    </a:p>
                  </a:txBody>
                  <a:tcPr marL="142875" marR="142875" marT="114300" marB="114300">
                    <a:lnR w="9525">
                      <a:solidFill>
                        <a:srgbClr val="D2DCCD"/>
                      </a:solidFill>
                      <a:prstDash val="solid"/>
                    </a:lnR>
                    <a:lnB w="9525">
                      <a:solidFill>
                        <a:srgbClr val="D2DCCD"/>
                      </a:solidFill>
                      <a:prstDash val="solid"/>
                    </a:lnB>
                    <a:solidFill>
                      <a:srgbClr val="FFFFFF"/>
                    </a:solidFill>
                  </a:tcPr>
                </a:tc>
              </a:tr>
              <a:tr h="693738">
                <a:tc>
                  <a:txBody>
                    <a:bodyPr/>
                    <a:lstStyle/>
                    <a:p>
                      <a:r>
                        <a:rPr sz="1650" b="0">
                          <a:solidFill>
                            <a:srgbClr val="183A2B"/>
                          </a:solidFill>
                        </a:rPr>
                        <a:t>Mean race response</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103.7 ms, measured end to end</a:t>
                      </a:r>
                    </a:p>
                  </a:txBody>
                  <a:tcPr marL="142875" marR="142875" marT="114300" marB="114300">
                    <a:lnR w="9525">
                      <a:solidFill>
                        <a:srgbClr val="D2DCCD"/>
                      </a:solidFill>
                      <a:prstDash val="solid"/>
                    </a:lnR>
                    <a:lnB w="9525">
                      <a:solidFill>
                        <a:srgbClr val="D2DCCD"/>
                      </a:solidFill>
                      <a:prstDash val="solid"/>
                    </a:lnB>
                    <a:solidFill>
                      <a:srgbClr val="EAF0E6"/>
                    </a:solidFill>
                  </a:tcPr>
                </a:tc>
              </a:tr>
              <a:tr h="693738">
                <a:tc>
                  <a:txBody>
                    <a:bodyPr/>
                    <a:lstStyle/>
                    <a:p>
                      <a:r>
                        <a:rPr sz="1650" b="0">
                          <a:solidFill>
                            <a:srgbClr val="183A2B"/>
                          </a:solidFill>
                        </a:rPr>
                        <a:t>Coordinator failover</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4430.6 ms, Node 03 to Node 02</a:t>
                      </a:r>
                    </a:p>
                  </a:txBody>
                  <a:tcPr marL="142875" marR="142875" marT="114300" marB="114300">
                    <a:lnR w="9525">
                      <a:solidFill>
                        <a:srgbClr val="D2DCCD"/>
                      </a:solidFill>
                      <a:prstDash val="solid"/>
                    </a:lnR>
                    <a:lnB w="9525">
                      <a:solidFill>
                        <a:srgbClr val="D2DCCD"/>
                      </a:solidFill>
                      <a:prstDash val="solid"/>
                    </a:lnB>
                    <a:solidFill>
                      <a:srgbClr val="FFFFFF"/>
                    </a:solidFill>
                  </a:tcPr>
                </a:tc>
              </a:tr>
              <a:tr h="693738">
                <a:tc>
                  <a:txBody>
                    <a:bodyPr/>
                    <a:lstStyle/>
                    <a:p>
                      <a:r>
                        <a:rPr sz="1650" b="0">
                          <a:solidFill>
                            <a:srgbClr val="183A2B"/>
                          </a:solidFill>
                        </a:rPr>
                        <a:t>Existing booking records</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2 preserved in the integration experiment</a:t>
                      </a:r>
                    </a:p>
                  </a:txBody>
                  <a:tcPr marL="142875" marR="142875" marT="114300" marB="114300">
                    <a:lnR w="9525">
                      <a:solidFill>
                        <a:srgbClr val="D2DCCD"/>
                      </a:solidFill>
                      <a:prstDash val="solid"/>
                    </a:lnR>
                    <a:lnB w="9525">
                      <a:solidFill>
                        <a:srgbClr val="D2DCCD"/>
                      </a:solidFill>
                      <a:prstDash val="solid"/>
                    </a:lnB>
                    <a:solidFill>
                      <a:srgbClr val="EAF0E6"/>
                    </a:solidFill>
                  </a:tcPr>
                </a:tc>
              </a:tr>
              <a:tr h="693738">
                <a:tc>
                  <a:txBody>
                    <a:bodyPr/>
                    <a:lstStyle/>
                    <a:p>
                      <a:r>
                        <a:rPr sz="1650" b="0">
                          <a:solidFill>
                            <a:srgbClr val="183A2B"/>
                          </a:solidFill>
                        </a:rPr>
                        <a:t>Recovery and persistence</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Higher and lower ID recovery, full restart passed</a:t>
                      </a:r>
                    </a:p>
                  </a:txBody>
                  <a:tcPr marL="142875" marR="142875" marT="114300" marB="114300">
                    <a:lnR w="9525">
                      <a:solidFill>
                        <a:srgbClr val="D2DCCD"/>
                      </a:solidFill>
                      <a:prstDash val="solid"/>
                    </a:lnR>
                    <a:lnB w="9525">
                      <a:solidFill>
                        <a:srgbClr val="D2DCC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42A266-7236-4546-A2C2-95CBB8BB5B5F}"/>
              </a:ext>
            </a:extLst>
          </p:cNvPr>
          <p:cNvSpPr>
            <a:spLocks xmlns:a="http://schemas.openxmlformats.org/drawingml/2006/main" noGrp="1"/>
          </p:cNvSpPr>
          <p:nvPr/>
        </p:nvSpPr>
        <p:spPr>
          <a:xfrm xmlns:a="http://schemas.openxmlformats.org/drawingml/2006/main">
            <a:off x="628650" y="58102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One measured run on this laptop. 9 integration tests passed.</a:t>
            </a:r>
          </a:p>
        </p:txBody>
      </p:sp>
    </p:spTree>
    <p:extLst>
      <p:ext uri="{BB962C8B-B14F-4D97-AF65-F5344CB8AC3E}">
        <p14:creationId xmlns:p14="http://schemas.microsoft.com/office/powerpoint/2010/main" val="51718174"/>
      </p:ext>
    </p:extLst>
  </p:cSld>
</p:sld>
</file>

<file path=ppt/slides/slide10.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93DA00-C722-4DE0-A8AE-95FBC7F8CD15}"/>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Failure model and limits</a:t>
            </a:r>
          </a:p>
        </p:txBody>
      </p:sp>
      <p:sp>
        <p:nvSpPr>
          <p:cNvPr id="2" name="">
            <a:extLst xmlns:a="http://schemas.openxmlformats.org/drawingml/2006/main">
              <a:ext uri="{FF2B5EF4-FFF2-40B4-BE49-F238E27FC236}">
                <a16:creationId xmlns:a16="http://schemas.microsoft.com/office/drawing/2014/main" id="{FE6F7051-F487-4522-A196-EF4FBF79313C}"/>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10</a:t>
            </a:r>
          </a:p>
        </p:txBody>
      </p:sp>
      <p:sp>
        <p:nvSpPr>
          <p:cNvPr id="3" name="">
            <a:extLst xmlns:a="http://schemas.openxmlformats.org/drawingml/2006/main">
              <a:ext uri="{FF2B5EF4-FFF2-40B4-BE49-F238E27FC236}">
                <a16:creationId xmlns:a16="http://schemas.microsoft.com/office/drawing/2014/main" id="{625D7DFD-EDAF-43B5-BBF6-306B1C600272}"/>
              </a:ext>
            </a:extLst>
          </p:cNvPr>
          <p:cNvSpPr>
            <a:spLocks xmlns:a="http://schemas.openxmlformats.org/drawingml/2006/main" noGrp="1"/>
          </p:cNvSpPr>
          <p:nvPr/>
        </p:nvSpPr>
        <p:spPr>
          <a:xfrm xmlns:a="http://schemas.openxmlformats.org/drawingml/2006/main">
            <a:off x="628650" y="14668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Supported experiment</a:t>
            </a:r>
          </a:p>
        </p:txBody>
      </p:sp>
      <p:sp>
        <p:nvSpPr>
          <p:cNvPr id="4" name="">
            <a:extLst xmlns:a="http://schemas.openxmlformats.org/drawingml/2006/main">
              <a:ext uri="{FF2B5EF4-FFF2-40B4-BE49-F238E27FC236}">
                <a16:creationId xmlns:a16="http://schemas.microsoft.com/office/drawing/2014/main" id="{5A76D4FD-E68A-4338-A69D-80C8DCDD67A9}"/>
              </a:ext>
            </a:extLst>
          </p:cNvPr>
          <p:cNvSpPr>
            <a:spLocks xmlns:a="http://schemas.openxmlformats.org/drawingml/2006/main" noGrp="1"/>
          </p:cNvSpPr>
          <p:nvPr/>
        </p:nvSpPr>
        <p:spPr>
          <a:xfrm xmlns:a="http://schemas.openxmlformats.org/drawingml/2006/main">
            <a:off x="628650" y="18954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Fixed membership, reliable loopback communication, and process crash/recovery.</a:t>
            </a:r>
          </a:p>
        </p:txBody>
      </p:sp>
      <p:sp>
        <p:nvSpPr>
          <p:cNvPr id="5" name="">
            <a:extLst xmlns:a="http://schemas.openxmlformats.org/drawingml/2006/main">
              <a:ext uri="{FF2B5EF4-FFF2-40B4-BE49-F238E27FC236}">
                <a16:creationId xmlns:a16="http://schemas.microsoft.com/office/drawing/2014/main" id="{C02F44B6-3E2A-4D4C-BE43-118121505B0A}"/>
              </a:ext>
            </a:extLst>
          </p:cNvPr>
          <p:cNvSpPr>
            <a:spLocks xmlns:a="http://schemas.openxmlformats.org/drawingml/2006/main" noGrp="1"/>
          </p:cNvSpPr>
          <p:nvPr/>
        </p:nvSpPr>
        <p:spPr>
          <a:xfrm xmlns:a="http://schemas.openxmlformats.org/drawingml/2006/main">
            <a:off x="628650" y="30575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Uncertain outcomes</a:t>
            </a:r>
          </a:p>
        </p:txBody>
      </p:sp>
      <p:sp>
        <p:nvSpPr>
          <p:cNvPr id="6" name="">
            <a:extLst xmlns:a="http://schemas.openxmlformats.org/drawingml/2006/main">
              <a:ext uri="{FF2B5EF4-FFF2-40B4-BE49-F238E27FC236}">
                <a16:creationId xmlns:a16="http://schemas.microsoft.com/office/drawing/2014/main" id="{86105B0A-B0B6-422A-8E26-7388FAC61B5F}"/>
              </a:ext>
            </a:extLst>
          </p:cNvPr>
          <p:cNvSpPr>
            <a:spLocks xmlns:a="http://schemas.openxmlformats.org/drawingml/2006/main" noGrp="1"/>
          </p:cNvSpPr>
          <p:nvPr/>
        </p:nvSpPr>
        <p:spPr>
          <a:xfrm xmlns:a="http://schemas.openxmlformats.org/drawingml/2006/main">
            <a:off x="628650" y="34861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A crash before the response may leave a reservation. Retry with the same request ID.</a:t>
            </a:r>
          </a:p>
        </p:txBody>
      </p:sp>
      <p:sp>
        <p:nvSpPr>
          <p:cNvPr id="7" name="">
            <a:extLst xmlns:a="http://schemas.openxmlformats.org/drawingml/2006/main">
              <a:ext uri="{FF2B5EF4-FFF2-40B4-BE49-F238E27FC236}">
                <a16:creationId xmlns:a16="http://schemas.microsoft.com/office/drawing/2014/main" id="{DE680810-FBD5-4B1F-8E72-C00DECF5C878}"/>
              </a:ext>
            </a:extLst>
          </p:cNvPr>
          <p:cNvSpPr>
            <a:spLocks xmlns:a="http://schemas.openxmlformats.org/drawingml/2006/main" noGrp="1"/>
          </p:cNvSpPr>
          <p:nvPr/>
        </p:nvSpPr>
        <p:spPr>
          <a:xfrm xmlns:a="http://schemas.openxmlformats.org/drawingml/2006/main">
            <a:off x="628650" y="4648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Production requirements</a:t>
            </a:r>
          </a:p>
        </p:txBody>
      </p:sp>
      <p:sp>
        <p:nvSpPr>
          <p:cNvPr id="8" name="">
            <a:extLst xmlns:a="http://schemas.openxmlformats.org/drawingml/2006/main">
              <a:ext uri="{FF2B5EF4-FFF2-40B4-BE49-F238E27FC236}">
                <a16:creationId xmlns:a16="http://schemas.microsoft.com/office/drawing/2014/main" id="{8BF002D7-A60C-4F8C-8BD5-E81D86290122}"/>
              </a:ext>
            </a:extLst>
          </p:cNvPr>
          <p:cNvSpPr>
            <a:spLocks xmlns:a="http://schemas.openxmlformats.org/drawingml/2006/main" noGrp="1"/>
          </p:cNvSpPr>
          <p:nvPr/>
        </p:nvSpPr>
        <p:spPr>
          <a:xfrm xmlns:a="http://schemas.openxmlformats.org/drawingml/2006/main">
            <a:off x="628650" y="50768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Partition-safe consensus and fencing, stronger recovery rules, authentication, and incremental logs.</a:t>
            </a:r>
          </a:p>
        </p:txBody>
      </p:sp>
    </p:spTree>
    <p:extLst>
      <p:ext uri="{BB962C8B-B14F-4D97-AF65-F5344CB8AC3E}">
        <p14:creationId xmlns:p14="http://schemas.microsoft.com/office/powerpoint/2010/main" val="1869894824"/>
      </p:ext>
    </p:extLst>
  </p:cSld>
</p:sld>
</file>

<file path=ppt/slides/slide11.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AD0363-83D7-4473-A280-F1B31004D770}"/>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Connection to the course</a:t>
            </a:r>
          </a:p>
        </p:txBody>
      </p:sp>
      <p:sp>
        <p:nvSpPr>
          <p:cNvPr id="2" name="">
            <a:extLst xmlns:a="http://schemas.openxmlformats.org/drawingml/2006/main">
              <a:ext uri="{FF2B5EF4-FFF2-40B4-BE49-F238E27FC236}">
                <a16:creationId xmlns:a16="http://schemas.microsoft.com/office/drawing/2014/main" id="{EBF3E3F8-DBFF-453B-99C3-C524A6DFE521}"/>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11</a:t>
            </a:r>
          </a:p>
        </p:txBody>
      </p:sp>
      <p:graphicFrame>
        <p:nvGraphicFramePr>
          <p:cNvPr id="3" name="">
            <a:extLst xmlns:a="http://schemas.openxmlformats.org/drawingml/2006/main">
              <a:ext uri="{FF2B5EF4-FFF2-40B4-BE49-F238E27FC236}">
                <a16:creationId xmlns:a16="http://schemas.microsoft.com/office/drawing/2014/main" id="{DF2D54D7-28F0-4633-8BDC-4FD76F670264}"/>
              </a:ext>
            </a:extLst>
          </p:cNvPr>
          <p:cNvGraphicFramePr/>
          <p:nvPr/>
        </p:nvGraphicFramePr>
        <p:xfrm>
          <a:off xmlns:a="http://schemas.openxmlformats.org/drawingml/2006/main" x="609600" y="1428750"/>
          <a:ext xmlns:a="http://schemas.openxmlformats.org/drawingml/2006/main" cx="10972800" cy="4438650"/>
        </p:xfrm>
        <a:graphic xmlns:a="http://schemas.openxmlformats.org/drawingml/2006/main">
          <a:graphicData uri="http://schemas.openxmlformats.org/drawingml/2006/table">
            <a:tbl>
              <a:tblPr/>
              <a:tblGrid>
                <a:gridCol w="3714750"/>
                <a:gridCol w="7258050"/>
              </a:tblGrid>
              <a:tr h="739775">
                <a:tc>
                  <a:txBody>
                    <a:bodyPr/>
                    <a:lstStyle/>
                    <a:p>
                      <a:r>
                        <a:rPr sz="1650" b="1">
                          <a:solidFill>
                            <a:srgbClr val="FFFFFF"/>
                          </a:solidFill>
                        </a:rPr>
                        <a:t>Course method</a:t>
                      </a:r>
                    </a:p>
                  </a:txBody>
                  <a:tcPr marL="142875" marR="142875" marT="114300" marB="114300">
                    <a:lnL w="9525">
                      <a:solidFill>
                        <a:srgbClr val="D2DCCD"/>
                      </a:solidFill>
                      <a:prstDash val="solid"/>
                    </a:lnL>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c>
                  <a:txBody>
                    <a:bodyPr/>
                    <a:lstStyle/>
                    <a:p>
                      <a:r>
                        <a:rPr sz="1650" b="1">
                          <a:solidFill>
                            <a:srgbClr val="FFFFFF"/>
                          </a:solidFill>
                        </a:rPr>
                        <a:t>Project evidence</a:t>
                      </a:r>
                    </a:p>
                  </a:txBody>
                  <a:tcPr marL="142875" marR="142875" marT="114300" marB="114300">
                    <a:lnR w="9525">
                      <a:solidFill>
                        <a:srgbClr val="D2DCCD"/>
                      </a:solidFill>
                      <a:prstDash val="solid"/>
                    </a:lnR>
                    <a:lnT w="9525">
                      <a:solidFill>
                        <a:srgbClr val="D2DCCD"/>
                      </a:solidFill>
                      <a:prstDash val="solid"/>
                    </a:lnT>
                    <a:lnB w="9525">
                      <a:solidFill>
                        <a:srgbClr val="D2DCCD"/>
                      </a:solidFill>
                      <a:prstDash val="solid"/>
                    </a:lnB>
                    <a:solidFill>
                      <a:srgbClr val="183A2B"/>
                    </a:solidFill>
                  </a:tcPr>
                </a:tc>
              </a:tr>
              <a:tr h="739775">
                <a:tc>
                  <a:txBody>
                    <a:bodyPr/>
                    <a:lstStyle/>
                    <a:p>
                      <a:r>
                        <a:rPr sz="1650" b="0">
                          <a:solidFill>
                            <a:srgbClr val="183A2B"/>
                          </a:solidFill>
                        </a:rPr>
                        <a:t>Client–server and RPC</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Independent HTTP endpoints and forwarded booking requests</a:t>
                      </a:r>
                    </a:p>
                  </a:txBody>
                  <a:tcPr marL="142875" marR="142875" marT="114300" marB="114300">
                    <a:lnR w="9525">
                      <a:solidFill>
                        <a:srgbClr val="D2DCCD"/>
                      </a:solidFill>
                      <a:prstDash val="solid"/>
                    </a:lnR>
                    <a:lnB w="9525">
                      <a:solidFill>
                        <a:srgbClr val="D2DCCD"/>
                      </a:solidFill>
                      <a:prstDash val="solid"/>
                    </a:lnB>
                    <a:solidFill>
                      <a:srgbClr val="FFFFFF"/>
                    </a:solidFill>
                  </a:tcPr>
                </a:tc>
              </a:tr>
              <a:tr h="739775">
                <a:tc>
                  <a:txBody>
                    <a:bodyPr/>
                    <a:lstStyle/>
                    <a:p>
                      <a:r>
                        <a:rPr sz="1650" b="0">
                          <a:solidFill>
                            <a:srgbClr val="183A2B"/>
                          </a:solidFill>
                        </a:rPr>
                        <a:t>Centralized mutual exclusion</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One elected coordinator serializes booking updates</a:t>
                      </a:r>
                    </a:p>
                  </a:txBody>
                  <a:tcPr marL="142875" marR="142875" marT="114300" marB="114300">
                    <a:lnR w="9525">
                      <a:solidFill>
                        <a:srgbClr val="D2DCCD"/>
                      </a:solidFill>
                      <a:prstDash val="solid"/>
                    </a:lnR>
                    <a:lnB w="9525">
                      <a:solidFill>
                        <a:srgbClr val="D2DCCD"/>
                      </a:solidFill>
                      <a:prstDash val="solid"/>
                    </a:lnB>
                    <a:solidFill>
                      <a:srgbClr val="EAF0E6"/>
                    </a:solidFill>
                  </a:tcPr>
                </a:tc>
              </a:tr>
              <a:tr h="739775">
                <a:tc>
                  <a:txBody>
                    <a:bodyPr/>
                    <a:lstStyle/>
                    <a:p>
                      <a:r>
                        <a:rPr sz="1650" b="0">
                          <a:solidFill>
                            <a:srgbClr val="183A2B"/>
                          </a:solidFill>
                        </a:rPr>
                        <a:t>Bully election</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Highest reachable ID recovers and announces leadership</a:t>
                      </a:r>
                    </a:p>
                  </a:txBody>
                  <a:tcPr marL="142875" marR="142875" marT="114300" marB="114300">
                    <a:lnR w="9525">
                      <a:solidFill>
                        <a:srgbClr val="D2DCCD"/>
                      </a:solidFill>
                      <a:prstDash val="solid"/>
                    </a:lnR>
                    <a:lnB w="9525">
                      <a:solidFill>
                        <a:srgbClr val="D2DCCD"/>
                      </a:solidFill>
                      <a:prstDash val="solid"/>
                    </a:lnB>
                    <a:solidFill>
                      <a:srgbClr val="FFFFFF"/>
                    </a:solidFill>
                  </a:tcPr>
                </a:tc>
              </a:tr>
              <a:tr h="739775">
                <a:tc>
                  <a:txBody>
                    <a:bodyPr/>
                    <a:lstStyle/>
                    <a:p>
                      <a:r>
                        <a:rPr sz="1650" b="0">
                          <a:solidFill>
                            <a:srgbClr val="183A2B"/>
                          </a:solidFill>
                        </a:rPr>
                        <a:t>Fault tolerance and replication</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EAF0E6"/>
                    </a:solidFill>
                  </a:tcPr>
                </a:tc>
                <a:tc>
                  <a:txBody>
                    <a:bodyPr/>
                    <a:lstStyle/>
                    <a:p>
                      <a:r>
                        <a:rPr sz="1650" b="0">
                          <a:solidFill>
                            <a:srgbClr val="183A2B"/>
                          </a:solidFill>
                        </a:rPr>
                        <a:t>Separate databases, quorum confirmation, restart recovery</a:t>
                      </a:r>
                    </a:p>
                  </a:txBody>
                  <a:tcPr marL="142875" marR="142875" marT="114300" marB="114300">
                    <a:lnR w="9525">
                      <a:solidFill>
                        <a:srgbClr val="D2DCCD"/>
                      </a:solidFill>
                      <a:prstDash val="solid"/>
                    </a:lnR>
                    <a:lnB w="9525">
                      <a:solidFill>
                        <a:srgbClr val="D2DCCD"/>
                      </a:solidFill>
                      <a:prstDash val="solid"/>
                    </a:lnB>
                    <a:solidFill>
                      <a:srgbClr val="EAF0E6"/>
                    </a:solidFill>
                  </a:tcPr>
                </a:tc>
              </a:tr>
              <a:tr h="739775">
                <a:tc>
                  <a:txBody>
                    <a:bodyPr/>
                    <a:lstStyle/>
                    <a:p>
                      <a:r>
                        <a:rPr sz="1650" b="0">
                          <a:solidFill>
                            <a:srgbClr val="183A2B"/>
                          </a:solidFill>
                        </a:rPr>
                        <a:t>Lamport clocks and naming</a:t>
                      </a:r>
                    </a:p>
                  </a:txBody>
                  <a:tcPr marL="142875" marR="142875" marT="114300" marB="114300">
                    <a:lnL w="9525">
                      <a:solidFill>
                        <a:srgbClr val="D2DCCD"/>
                      </a:solidFill>
                      <a:prstDash val="solid"/>
                    </a:lnL>
                    <a:lnR w="9525">
                      <a:solidFill>
                        <a:srgbClr val="D2DCCD"/>
                      </a:solidFill>
                      <a:prstDash val="solid"/>
                    </a:lnR>
                    <a:lnB w="9525">
                      <a:solidFill>
                        <a:srgbClr val="D2DCCD"/>
                      </a:solidFill>
                      <a:prstDash val="solid"/>
                    </a:lnB>
                    <a:solidFill>
                      <a:srgbClr val="FFFFFF"/>
                    </a:solidFill>
                  </a:tcPr>
                </a:tc>
                <a:tc>
                  <a:txBody>
                    <a:bodyPr/>
                    <a:lstStyle/>
                    <a:p>
                      <a:r>
                        <a:rPr sz="1650" b="0">
                          <a:solidFill>
                            <a:srgbClr val="183A2B"/>
                          </a:solidFill>
                        </a:rPr>
                        <a:t>Logical event counters and stable node-to-address mapping</a:t>
                      </a:r>
                    </a:p>
                  </a:txBody>
                  <a:tcPr marL="142875" marR="142875" marT="114300" marB="114300">
                    <a:lnR w="9525">
                      <a:solidFill>
                        <a:srgbClr val="D2DCCD"/>
                      </a:solidFill>
                      <a:prstDash val="solid"/>
                    </a:lnR>
                    <a:lnB w="9525">
                      <a:solidFill>
                        <a:srgbClr val="D2DCCD"/>
                      </a:solidFill>
                      <a:prstDash val="solid"/>
                    </a:lnB>
                    <a:solidFill>
                      <a:srgbClr val="FFFFFF"/>
                    </a:solidFill>
                  </a:tcPr>
                </a:tc>
              </a:tr>
            </a:tbl>
          </a:graphicData>
        </a:graphic>
      </p:graphicFrame>
    </p:spTree>
    <p:extLst>
      <p:ext uri="{BB962C8B-B14F-4D97-AF65-F5344CB8AC3E}">
        <p14:creationId xmlns:p14="http://schemas.microsoft.com/office/powerpoint/2010/main" val="171231436"/>
      </p:ext>
    </p:extLst>
  </p:cSld>
</p:sld>
</file>

<file path=ppt/slides/slide1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0121D5-6A21-4F21-8894-ED5DF914B3D8}"/>
              </a:ext>
            </a:extLst>
          </p:cNvPr>
          <p:cNvSpPr>
            <a:spLocks xmlns:a="http://schemas.openxmlformats.org/drawingml/2006/main" noGrp="1"/>
          </p:cNvSpPr>
          <p:nvPr/>
        </p:nvSpPr>
        <p:spPr>
          <a:xfrm xmlns:a="http://schemas.openxmlformats.org/drawingml/2006/main">
            <a:off x="609600" y="4095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A2B"/>
                </a:solidFill>
              </a:defRPr>
            </a:defPPr>
          </a:lstStyle>
          <a:p xmlns:a="http://schemas.openxmlformats.org/drawingml/2006/main">
            <a:pPr>
              <a:defRPr sz="3225" b="1">
                <a:solidFill>
                  <a:srgbClr val="183A2B"/>
                </a:solidFill>
              </a:defRPr>
            </a:pPr>
            <a:r>
              <a:rPr sz="3225" b="1">
                <a:solidFill>
                  <a:srgbClr val="183A2B"/>
                </a:solidFill>
              </a:rPr>
              <a:t>Live demonstration</a:t>
            </a:r>
          </a:p>
        </p:txBody>
      </p:sp>
      <p:sp>
        <p:nvSpPr>
          <p:cNvPr id="2" name="">
            <a:extLst xmlns:a="http://schemas.openxmlformats.org/drawingml/2006/main">
              <a:ext uri="{FF2B5EF4-FFF2-40B4-BE49-F238E27FC236}">
                <a16:creationId xmlns:a16="http://schemas.microsoft.com/office/drawing/2014/main" id="{4BC356F8-51B9-43BF-8AF9-A6F355415645}"/>
              </a:ext>
            </a:extLst>
          </p:cNvPr>
          <p:cNvSpPr>
            <a:spLocks xmlns:a="http://schemas.openxmlformats.org/drawingml/2006/main" noGrp="1"/>
          </p:cNvSpPr>
          <p:nvPr/>
        </p:nvSpPr>
        <p:spPr>
          <a:xfrm xmlns:a="http://schemas.openxmlformats.org/drawingml/2006/main">
            <a:off x="11144250" y="63341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97C6D"/>
                </a:solidFill>
              </a:defRPr>
            </a:defPPr>
          </a:lstStyle>
          <a:p xmlns:a="http://schemas.openxmlformats.org/drawingml/2006/main">
            <a:pPr>
              <a:defRPr sz="1125" b="0">
                <a:solidFill>
                  <a:srgbClr val="697C6D"/>
                </a:solidFill>
              </a:defRPr>
            </a:pPr>
            <a:r>
              <a:rPr sz="1125" b="0">
                <a:solidFill>
                  <a:srgbClr val="697C6D"/>
                </a:solidFill>
              </a:rPr>
              <a:t>12</a:t>
            </a:r>
          </a:p>
        </p:txBody>
      </p:sp>
      <p:sp>
        <p:nvSpPr>
          <p:cNvPr id="3" name="">
            <a:extLst xmlns:a="http://schemas.openxmlformats.org/drawingml/2006/main">
              <a:ext uri="{FF2B5EF4-FFF2-40B4-BE49-F238E27FC236}">
                <a16:creationId xmlns:a16="http://schemas.microsoft.com/office/drawing/2014/main" id="{DD65E318-5BB6-4DFF-B092-CA8CB5B8AA77}"/>
              </a:ext>
            </a:extLst>
          </p:cNvPr>
          <p:cNvSpPr>
            <a:spLocks xmlns:a="http://schemas.openxmlformats.org/drawingml/2006/main" noGrp="1"/>
          </p:cNvSpPr>
          <p:nvPr/>
        </p:nvSpPr>
        <p:spPr>
          <a:xfrm xmlns:a="http://schemas.openxmlformats.org/drawingml/2006/main">
            <a:off x="628650" y="1428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01  Book through Node 01</a:t>
            </a:r>
          </a:p>
        </p:txBody>
      </p:sp>
      <p:sp>
        <p:nvSpPr>
          <p:cNvPr id="4" name="">
            <a:extLst xmlns:a="http://schemas.openxmlformats.org/drawingml/2006/main">
              <a:ext uri="{FF2B5EF4-FFF2-40B4-BE49-F238E27FC236}">
                <a16:creationId xmlns:a16="http://schemas.microsoft.com/office/drawing/2014/main" id="{D81FC7A6-0DAB-4709-97B4-30E9F73C089E}"/>
              </a:ext>
            </a:extLst>
          </p:cNvPr>
          <p:cNvSpPr>
            <a:spLocks xmlns:a="http://schemas.openxmlformats.org/drawingml/2006/main" noGrp="1"/>
          </p:cNvSpPr>
          <p:nvPr/>
        </p:nvSpPr>
        <p:spPr>
          <a:xfrm xmlns:a="http://schemas.openxmlformats.org/drawingml/2006/main">
            <a:off x="628650" y="18573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Show the receipt and matching replica records.</a:t>
            </a:r>
          </a:p>
        </p:txBody>
      </p:sp>
      <p:sp>
        <p:nvSpPr>
          <p:cNvPr id="5" name="">
            <a:extLst xmlns:a="http://schemas.openxmlformats.org/drawingml/2006/main">
              <a:ext uri="{FF2B5EF4-FFF2-40B4-BE49-F238E27FC236}">
                <a16:creationId xmlns:a16="http://schemas.microsoft.com/office/drawing/2014/main" id="{8F104F8B-71A0-411B-96BF-814132EAB633}"/>
              </a:ext>
            </a:extLst>
          </p:cNvPr>
          <p:cNvSpPr>
            <a:spLocks xmlns:a="http://schemas.openxmlformats.org/drawingml/2006/main" noGrp="1"/>
          </p:cNvSpPr>
          <p:nvPr/>
        </p:nvSpPr>
        <p:spPr>
          <a:xfrm xmlns:a="http://schemas.openxmlformats.org/drawingml/2006/main">
            <a:off x="628650" y="26193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02  Race for another seat</a:t>
            </a:r>
          </a:p>
        </p:txBody>
      </p:sp>
      <p:sp>
        <p:nvSpPr>
          <p:cNvPr id="6" name="">
            <a:extLst xmlns:a="http://schemas.openxmlformats.org/drawingml/2006/main">
              <a:ext uri="{FF2B5EF4-FFF2-40B4-BE49-F238E27FC236}">
                <a16:creationId xmlns:a16="http://schemas.microsoft.com/office/drawing/2014/main" id="{72583ED5-B9F0-4ADF-AE9A-30638AFD1633}"/>
              </a:ext>
            </a:extLst>
          </p:cNvPr>
          <p:cNvSpPr>
            <a:spLocks xmlns:a="http://schemas.openxmlformats.org/drawingml/2006/main" noGrp="1"/>
          </p:cNvSpPr>
          <p:nvPr/>
        </p:nvSpPr>
        <p:spPr>
          <a:xfrm xmlns:a="http://schemas.openxmlformats.org/drawingml/2006/main">
            <a:off x="628650" y="3048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Read the success, conflict, and error counts.</a:t>
            </a:r>
          </a:p>
        </p:txBody>
      </p:sp>
      <p:sp>
        <p:nvSpPr>
          <p:cNvPr id="7" name="">
            <a:extLst xmlns:a="http://schemas.openxmlformats.org/drawingml/2006/main">
              <a:ext uri="{FF2B5EF4-FFF2-40B4-BE49-F238E27FC236}">
                <a16:creationId xmlns:a16="http://schemas.microsoft.com/office/drawing/2014/main" id="{A56278E4-3D9E-40CB-BD46-55E570597BEF}"/>
              </a:ext>
            </a:extLst>
          </p:cNvPr>
          <p:cNvSpPr>
            <a:spLocks xmlns:a="http://schemas.openxmlformats.org/drawingml/2006/main" noGrp="1"/>
          </p:cNvSpPr>
          <p:nvPr/>
        </p:nvSpPr>
        <p:spPr>
          <a:xfrm xmlns:a="http://schemas.openxmlformats.org/drawingml/2006/main">
            <a:off x="628650" y="38100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6E50"/>
                </a:solidFill>
              </a:defRPr>
            </a:defPPr>
          </a:lstStyle>
          <a:p xmlns:a="http://schemas.openxmlformats.org/drawingml/2006/main">
            <a:pPr>
              <a:defRPr sz="2025" b="1">
                <a:solidFill>
                  <a:srgbClr val="176E50"/>
                </a:solidFill>
              </a:defRPr>
            </a:pPr>
            <a:r>
              <a:rPr sz="2025" b="1">
                <a:solidFill>
                  <a:srgbClr val="176E50"/>
                </a:solidFill>
              </a:rPr>
              <a:t>03  Crash and recover</a:t>
            </a:r>
          </a:p>
        </p:txBody>
      </p:sp>
      <p:sp>
        <p:nvSpPr>
          <p:cNvPr id="8" name="">
            <a:extLst xmlns:a="http://schemas.openxmlformats.org/drawingml/2006/main">
              <a:ext uri="{FF2B5EF4-FFF2-40B4-BE49-F238E27FC236}">
                <a16:creationId xmlns:a16="http://schemas.microsoft.com/office/drawing/2014/main" id="{72E00895-EE82-4FC0-AB61-73462F13EBF4}"/>
              </a:ext>
            </a:extLst>
          </p:cNvPr>
          <p:cNvSpPr>
            <a:spLocks xmlns:a="http://schemas.openxmlformats.org/drawingml/2006/main" noGrp="1"/>
          </p:cNvSpPr>
          <p:nvPr/>
        </p:nvSpPr>
        <p:spPr>
          <a:xfrm xmlns:a="http://schemas.openxmlformats.org/drawingml/2006/main">
            <a:off x="628650" y="4238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97C6D"/>
                </a:solidFill>
              </a:defRPr>
            </a:defPPr>
          </a:lstStyle>
          <a:p xmlns:a="http://schemas.openxmlformats.org/drawingml/2006/main">
            <a:pPr>
              <a:defRPr sz="1725" b="0">
                <a:solidFill>
                  <a:srgbClr val="697C6D"/>
                </a:solidFill>
              </a:defRPr>
            </a:pPr>
            <a:r>
              <a:rPr sz="1725" b="0">
                <a:solidFill>
                  <a:srgbClr val="697C6D"/>
                </a:solidFill>
              </a:rPr>
              <a:t>Observe the election, make another booking, and restart Node 03.</a:t>
            </a:r>
          </a:p>
        </p:txBody>
      </p:sp>
      <p:sp>
        <p:nvSpPr>
          <p:cNvPr id="9" name="">
            <a:extLst xmlns:a="http://schemas.openxmlformats.org/drawingml/2006/main">
              <a:ext uri="{FF2B5EF4-FFF2-40B4-BE49-F238E27FC236}">
                <a16:creationId xmlns:a16="http://schemas.microsoft.com/office/drawing/2014/main" id="{29680B16-59FE-4C96-AFC8-8D114323226C}"/>
              </a:ext>
            </a:extLst>
          </p:cNvPr>
          <p:cNvSpPr>
            <a:spLocks xmlns:a="http://schemas.openxmlformats.org/drawingml/2006/main" noGrp="1"/>
          </p:cNvSpPr>
          <p:nvPr/>
        </p:nvSpPr>
        <p:spPr>
          <a:xfrm xmlns:a="http://schemas.openxmlformats.org/drawingml/2006/main">
            <a:off x="628650" y="5648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6E50"/>
                </a:solidFill>
              </a:defRPr>
            </a:defPPr>
          </a:lstStyle>
          <a:p xmlns:a="http://schemas.openxmlformats.org/drawingml/2006/main">
            <a:pPr>
              <a:defRPr sz="2100" b="1">
                <a:solidFill>
                  <a:srgbClr val="176E50"/>
                </a:solidFill>
              </a:defRPr>
            </a:pPr>
            <a:r>
              <a:rPr sz="2100" b="1">
                <a:solidFill>
                  <a:srgbClr val="176E50"/>
                </a:solidFill>
              </a:rPr>
              <a:t>Local address   http://127.0.0.1:18780</a:t>
            </a:r>
          </a:p>
        </p:txBody>
      </p:sp>
    </p:spTree>
    <p:extLst>
      <p:ext uri="{BB962C8B-B14F-4D97-AF65-F5344CB8AC3E}">
        <p14:creationId xmlns:p14="http://schemas.microsoft.com/office/powerpoint/2010/main" val="4931089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2026-10-17T00:34:45.7110000Z</dcterms:created>
  <dcterms:modified xsi:type="dcterms:W3CDTF">2026-10-17T00:34:45.7110000Z</dcterms:modified>
</coreProperties>
</file>